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8" r:id="rId4"/>
    <p:sldId id="27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685800"/>
            <a:ext cx="8458200" cy="549554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976372" y="2446020"/>
            <a:ext cx="3584575" cy="1828800"/>
          </a:xfrm>
          <a:custGeom>
            <a:avLst/>
            <a:gdLst/>
            <a:ahLst/>
            <a:cxnLst/>
            <a:rect l="l" t="t" r="r" b="b"/>
            <a:pathLst>
              <a:path w="3584575" h="1828800">
                <a:moveTo>
                  <a:pt x="0" y="1828799"/>
                </a:moveTo>
                <a:lnTo>
                  <a:pt x="3584448" y="1828799"/>
                </a:lnTo>
                <a:lnTo>
                  <a:pt x="3584448" y="457200"/>
                </a:lnTo>
                <a:lnTo>
                  <a:pt x="0" y="457200"/>
                </a:lnTo>
                <a:lnTo>
                  <a:pt x="0" y="1828799"/>
                </a:lnTo>
                <a:close/>
              </a:path>
              <a:path w="3584575" h="1828800">
                <a:moveTo>
                  <a:pt x="612648" y="301751"/>
                </a:moveTo>
                <a:lnTo>
                  <a:pt x="2441448" y="301751"/>
                </a:lnTo>
                <a:lnTo>
                  <a:pt x="2441448" y="0"/>
                </a:lnTo>
                <a:lnTo>
                  <a:pt x="612648" y="0"/>
                </a:lnTo>
                <a:lnTo>
                  <a:pt x="612648" y="301751"/>
                </a:lnTo>
                <a:close/>
              </a:path>
            </a:pathLst>
          </a:custGeom>
          <a:ln w="27432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739" y="24193"/>
            <a:ext cx="688149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0260" y="23494"/>
            <a:ext cx="8223478" cy="14949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626552"/>
            <a:ext cx="7970520" cy="3711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6826" y="6303050"/>
            <a:ext cx="264795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467376"/>
            <a:ext cx="8242452" cy="64588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2520315" marR="5080" indent="-2508250" algn="ctr">
              <a:lnSpc>
                <a:spcPct val="101099"/>
              </a:lnSpc>
              <a:spcBef>
                <a:spcPts val="35"/>
              </a:spcBef>
            </a:pPr>
            <a:r>
              <a:rPr sz="4400" spc="-10" dirty="0">
                <a:solidFill>
                  <a:srgbClr val="000000"/>
                </a:solidFill>
              </a:rPr>
              <a:t>Database </a:t>
            </a:r>
            <a:r>
              <a:rPr lang="en-US" sz="4400" spc="-10" dirty="0">
                <a:solidFill>
                  <a:srgbClr val="000000"/>
                </a:solidFill>
              </a:rPr>
              <a:t>Management </a:t>
            </a:r>
            <a:r>
              <a:rPr sz="4400" spc="-10" dirty="0">
                <a:solidFill>
                  <a:srgbClr val="000000"/>
                </a:solidFill>
              </a:rPr>
              <a:t>Systems</a:t>
            </a:r>
            <a:endParaRPr sz="4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809495" y="4067683"/>
            <a:ext cx="5523865" cy="467116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algn="ctr">
              <a:lnSpc>
                <a:spcPct val="103099"/>
              </a:lnSpc>
              <a:spcBef>
                <a:spcPts val="5"/>
              </a:spcBef>
            </a:pPr>
            <a:endParaRPr sz="3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3367" rIns="0" bIns="0" rtlCol="0">
            <a:spAutoFit/>
          </a:bodyPr>
          <a:lstStyle/>
          <a:p>
            <a:pPr marL="69342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Arial"/>
                <a:cs typeface="Arial"/>
              </a:rPr>
              <a:t>Supertypes</a:t>
            </a:r>
            <a:r>
              <a:rPr sz="4400" b="1" spc="-2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and</a:t>
            </a:r>
            <a:r>
              <a:rPr sz="4400" b="1" spc="-165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Subtypes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5175" y="1657159"/>
            <a:ext cx="7530465" cy="40411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0680" marR="60960" indent="-348615">
              <a:lnSpc>
                <a:spcPct val="91900"/>
              </a:lnSpc>
              <a:spcBef>
                <a:spcPts val="425"/>
              </a:spcBef>
              <a:buChar char="•"/>
              <a:tabLst>
                <a:tab pos="360680" algn="l"/>
                <a:tab pos="3522979" algn="l"/>
                <a:tab pos="6011545" algn="l"/>
              </a:tabLst>
            </a:pPr>
            <a:r>
              <a:rPr sz="3150" dirty="0">
                <a:latin typeface="Arial MT"/>
                <a:cs typeface="Arial MT"/>
              </a:rPr>
              <a:t>Subtype:</a:t>
            </a:r>
            <a:r>
              <a:rPr sz="3150" spc="1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subgrouping</a:t>
            </a:r>
            <a:r>
              <a:rPr sz="2350" spc="2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entities</a:t>
            </a:r>
            <a:r>
              <a:rPr sz="2350" dirty="0">
                <a:latin typeface="Arial MT"/>
                <a:cs typeface="Arial MT"/>
              </a:rPr>
              <a:t>	in</a:t>
            </a:r>
            <a:r>
              <a:rPr sz="2350" spc="-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an</a:t>
            </a:r>
            <a:r>
              <a:rPr sz="2350" spc="114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entity </a:t>
            </a:r>
            <a:r>
              <a:rPr sz="2350" dirty="0">
                <a:latin typeface="Arial MT"/>
                <a:cs typeface="Arial MT"/>
              </a:rPr>
              <a:t>type</a:t>
            </a:r>
            <a:r>
              <a:rPr sz="2350" spc="4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that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has</a:t>
            </a:r>
            <a:r>
              <a:rPr sz="2350" spc="4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attributes</a:t>
            </a:r>
            <a:r>
              <a:rPr sz="2350" dirty="0">
                <a:latin typeface="Arial MT"/>
                <a:cs typeface="Arial MT"/>
              </a:rPr>
              <a:t>	distinct</a:t>
            </a:r>
            <a:r>
              <a:rPr sz="2350" spc="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from</a:t>
            </a:r>
            <a:r>
              <a:rPr sz="2350" spc="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those</a:t>
            </a:r>
            <a:r>
              <a:rPr sz="2350" spc="1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</a:t>
            </a:r>
            <a:r>
              <a:rPr sz="2350" spc="-10" dirty="0">
                <a:latin typeface="Arial MT"/>
                <a:cs typeface="Arial MT"/>
              </a:rPr>
              <a:t> other subgroupings</a:t>
            </a:r>
            <a:endParaRPr sz="2350" dirty="0">
              <a:latin typeface="Arial MT"/>
              <a:cs typeface="Arial MT"/>
            </a:endParaRPr>
          </a:p>
          <a:p>
            <a:pPr marL="360680" marR="916940" indent="-348615">
              <a:lnSpc>
                <a:spcPct val="91900"/>
              </a:lnSpc>
              <a:spcBef>
                <a:spcPts val="800"/>
              </a:spcBef>
              <a:buChar char="•"/>
              <a:tabLst>
                <a:tab pos="360680" algn="l"/>
                <a:tab pos="3801745" algn="l"/>
              </a:tabLst>
            </a:pPr>
            <a:r>
              <a:rPr sz="3150" dirty="0">
                <a:latin typeface="Arial MT"/>
                <a:cs typeface="Arial MT"/>
              </a:rPr>
              <a:t>Supertype:</a:t>
            </a:r>
            <a:r>
              <a:rPr sz="3150" spc="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 </a:t>
            </a:r>
            <a:r>
              <a:rPr sz="2350" spc="-10" dirty="0">
                <a:latin typeface="Arial MT"/>
                <a:cs typeface="Arial MT"/>
              </a:rPr>
              <a:t>generic</a:t>
            </a:r>
            <a:r>
              <a:rPr sz="2350" dirty="0">
                <a:latin typeface="Arial MT"/>
                <a:cs typeface="Arial MT"/>
              </a:rPr>
              <a:t>	entity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type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that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has</a:t>
            </a:r>
            <a:r>
              <a:rPr sz="2350" spc="45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a </a:t>
            </a:r>
            <a:r>
              <a:rPr sz="2350" dirty="0">
                <a:latin typeface="Arial MT"/>
                <a:cs typeface="Arial MT"/>
              </a:rPr>
              <a:t>relationship</a:t>
            </a:r>
            <a:r>
              <a:rPr sz="2350" spc="1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with</a:t>
            </a:r>
            <a:r>
              <a:rPr sz="2350" spc="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one</a:t>
            </a:r>
            <a:r>
              <a:rPr sz="2350" spc="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or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more</a:t>
            </a:r>
            <a:r>
              <a:rPr sz="2350" spc="114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subtypes</a:t>
            </a:r>
            <a:endParaRPr sz="2350" dirty="0">
              <a:latin typeface="Arial MT"/>
              <a:cs typeface="Arial MT"/>
            </a:endParaRPr>
          </a:p>
          <a:p>
            <a:pPr marL="360680" indent="-347980">
              <a:lnSpc>
                <a:spcPct val="100000"/>
              </a:lnSpc>
              <a:spcBef>
                <a:spcPts val="415"/>
              </a:spcBef>
              <a:buChar char="•"/>
              <a:tabLst>
                <a:tab pos="360680" algn="l"/>
              </a:tabLst>
            </a:pPr>
            <a:r>
              <a:rPr sz="3150" dirty="0">
                <a:latin typeface="Arial MT"/>
                <a:cs typeface="Arial MT"/>
              </a:rPr>
              <a:t>Attribute</a:t>
            </a:r>
            <a:r>
              <a:rPr sz="3150" spc="8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Inheritance:</a:t>
            </a:r>
            <a:endParaRPr sz="3150" dirty="0">
              <a:latin typeface="Arial MT"/>
              <a:cs typeface="Arial MT"/>
            </a:endParaRPr>
          </a:p>
          <a:p>
            <a:pPr marL="752475" marR="330835" lvl="1" indent="-282575">
              <a:lnSpc>
                <a:spcPts val="2600"/>
              </a:lnSpc>
              <a:spcBef>
                <a:spcPts val="680"/>
              </a:spcBef>
              <a:buChar char="–"/>
              <a:tabLst>
                <a:tab pos="753745" algn="l"/>
                <a:tab pos="3011805" algn="l"/>
              </a:tabLst>
            </a:pPr>
            <a:r>
              <a:rPr sz="2350" dirty="0">
                <a:latin typeface="Arial MT"/>
                <a:cs typeface="Arial MT"/>
              </a:rPr>
              <a:t>Subtype</a:t>
            </a:r>
            <a:r>
              <a:rPr sz="2350" spc="14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entities</a:t>
            </a:r>
            <a:r>
              <a:rPr sz="2350" dirty="0">
                <a:latin typeface="Arial MT"/>
                <a:cs typeface="Arial MT"/>
              </a:rPr>
              <a:t>	inherit</a:t>
            </a:r>
            <a:r>
              <a:rPr sz="2350" spc="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values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all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attributes</a:t>
            </a:r>
            <a:r>
              <a:rPr sz="2350" spc="114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of 	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7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supertype</a:t>
            </a:r>
            <a:endParaRPr sz="2350" dirty="0">
              <a:latin typeface="Arial MT"/>
              <a:cs typeface="Arial MT"/>
            </a:endParaRPr>
          </a:p>
          <a:p>
            <a:pPr marL="752475" lvl="1" indent="-282575">
              <a:lnSpc>
                <a:spcPts val="2710"/>
              </a:lnSpc>
              <a:spcBef>
                <a:spcPts val="295"/>
              </a:spcBef>
              <a:buChar char="–"/>
              <a:tabLst>
                <a:tab pos="752475" algn="l"/>
              </a:tabLst>
            </a:pPr>
            <a:r>
              <a:rPr sz="2350" dirty="0">
                <a:latin typeface="Arial MT"/>
                <a:cs typeface="Arial MT"/>
              </a:rPr>
              <a:t>An</a:t>
            </a:r>
            <a:r>
              <a:rPr sz="2350" spc="-4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instance</a:t>
            </a:r>
            <a:r>
              <a:rPr sz="2350" spc="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subtype</a:t>
            </a:r>
            <a:r>
              <a:rPr sz="2350" spc="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is</a:t>
            </a:r>
            <a:r>
              <a:rPr sz="2350" spc="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also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an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instance</a:t>
            </a:r>
            <a:r>
              <a:rPr sz="2350" spc="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4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the</a:t>
            </a:r>
            <a:endParaRPr sz="2350" dirty="0">
              <a:latin typeface="Arial MT"/>
              <a:cs typeface="Arial MT"/>
            </a:endParaRPr>
          </a:p>
          <a:p>
            <a:pPr marL="753745">
              <a:lnSpc>
                <a:spcPts val="2710"/>
              </a:lnSpc>
            </a:pPr>
            <a:r>
              <a:rPr sz="2350" spc="-10" dirty="0">
                <a:latin typeface="Arial MT"/>
                <a:cs typeface="Arial MT"/>
              </a:rPr>
              <a:t>supertype</a:t>
            </a:r>
            <a:endParaRPr sz="23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C10D2-55B0-4FD5-AC28-1D8DAA57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456"/>
            <a:ext cx="9144000" cy="2861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D8E917-1EF6-4458-8200-C21265750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4712"/>
            <a:ext cx="9144000" cy="32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58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4EC10-BFB4-459C-945C-0443663F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09600"/>
            <a:ext cx="6553200" cy="593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7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8319" y="338264"/>
            <a:ext cx="51384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Tahoma"/>
                <a:cs typeface="Tahoma"/>
              </a:rPr>
              <a:t>Basic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notation</a:t>
            </a:r>
            <a:r>
              <a:rPr sz="2000" spc="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for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supertype/subtype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notation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5137" y="1551878"/>
            <a:ext cx="6019800" cy="51537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2400" y="1752600"/>
            <a:ext cx="1066800" cy="635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l">
              <a:lnSpc>
                <a:spcPts val="2390"/>
              </a:lnSpc>
              <a:spcBef>
                <a:spcPts val="114"/>
              </a:spcBef>
            </a:pPr>
            <a:r>
              <a:rPr sz="2000" dirty="0">
                <a:latin typeface="Tahoma"/>
                <a:cs typeface="Tahoma"/>
              </a:rPr>
              <a:t>a)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EER</a:t>
            </a:r>
            <a:endParaRPr sz="2000" dirty="0">
              <a:latin typeface="Tahoma"/>
              <a:cs typeface="Tahoma"/>
            </a:endParaRPr>
          </a:p>
          <a:p>
            <a:pPr marL="12700" algn="l">
              <a:lnSpc>
                <a:spcPts val="2390"/>
              </a:lnSpc>
            </a:pPr>
            <a:r>
              <a:rPr sz="2000" spc="-10" dirty="0">
                <a:latin typeface="Tahoma"/>
                <a:cs typeface="Tahoma"/>
              </a:rPr>
              <a:t>notation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5963476"/>
            <a:ext cx="667258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Different</a:t>
            </a:r>
            <a:r>
              <a:rPr sz="1800" spc="-2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modeling</a:t>
            </a:r>
            <a:r>
              <a:rPr sz="1800" spc="-12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tools</a:t>
            </a:r>
            <a:r>
              <a:rPr sz="1800" spc="-8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may</a:t>
            </a:r>
            <a:r>
              <a:rPr sz="1800" spc="3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have</a:t>
            </a:r>
            <a:r>
              <a:rPr sz="1800" spc="-1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different</a:t>
            </a:r>
            <a:r>
              <a:rPr sz="1800" spc="-2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notation</a:t>
            </a:r>
            <a:r>
              <a:rPr sz="1800" spc="-6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for</a:t>
            </a:r>
            <a:r>
              <a:rPr sz="1800" spc="-7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the</a:t>
            </a:r>
            <a:r>
              <a:rPr sz="1800" spc="-1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ahoma"/>
                <a:cs typeface="Tahoma"/>
              </a:rPr>
              <a:t>same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modeling </a:t>
            </a:r>
            <a:r>
              <a:rPr sz="1800" spc="-10" dirty="0">
                <a:solidFill>
                  <a:srgbClr val="990000"/>
                </a:solidFill>
                <a:latin typeface="Tahoma"/>
                <a:cs typeface="Tahoma"/>
              </a:rPr>
              <a:t>constructs</a:t>
            </a:r>
            <a:endParaRPr sz="1800" dirty="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1687641"/>
            <a:ext cx="8497824" cy="42758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5800" y="1828800"/>
            <a:ext cx="1374140" cy="93789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 algn="r">
              <a:lnSpc>
                <a:spcPts val="2390"/>
              </a:lnSpc>
              <a:spcBef>
                <a:spcPts val="114"/>
              </a:spcBef>
            </a:pPr>
            <a:r>
              <a:rPr sz="2000" dirty="0">
                <a:latin typeface="Tahoma"/>
                <a:cs typeface="Tahoma"/>
              </a:rPr>
              <a:t>b)</a:t>
            </a:r>
            <a:r>
              <a:rPr sz="2000" spc="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Microsoft</a:t>
            </a:r>
            <a:endParaRPr sz="2000" dirty="0">
              <a:latin typeface="Tahoma"/>
              <a:cs typeface="Tahoma"/>
            </a:endParaRPr>
          </a:p>
          <a:p>
            <a:pPr marR="6350" algn="r">
              <a:lnSpc>
                <a:spcPts val="2380"/>
              </a:lnSpc>
            </a:pPr>
            <a:r>
              <a:rPr sz="2000" spc="-10" dirty="0">
                <a:latin typeface="Tahoma"/>
                <a:cs typeface="Tahoma"/>
              </a:rPr>
              <a:t>Visio</a:t>
            </a:r>
            <a:endParaRPr sz="2000" dirty="0">
              <a:latin typeface="Tahoma"/>
              <a:cs typeface="Tahoma"/>
            </a:endParaRPr>
          </a:p>
          <a:p>
            <a:pPr marR="10795" algn="r">
              <a:lnSpc>
                <a:spcPts val="2390"/>
              </a:lnSpc>
            </a:pPr>
            <a:r>
              <a:rPr sz="2000" spc="-10" dirty="0">
                <a:latin typeface="Tahoma"/>
                <a:cs typeface="Tahoma"/>
              </a:rPr>
              <a:t>Notation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6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8319" y="338264"/>
            <a:ext cx="689292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latin typeface="Tahoma"/>
                <a:cs typeface="Tahoma"/>
              </a:rPr>
              <a:t>Basic</a:t>
            </a:r>
            <a:r>
              <a:rPr sz="2000" b="1" spc="1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notation</a:t>
            </a:r>
            <a:r>
              <a:rPr sz="2000" b="1" spc="-6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for</a:t>
            </a:r>
            <a:r>
              <a:rPr sz="2000" b="1" spc="-1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supertype/subtype</a:t>
            </a:r>
            <a:r>
              <a:rPr sz="2000" b="1" spc="-26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notation</a:t>
            </a:r>
            <a:r>
              <a:rPr sz="2000" b="1" spc="-6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(cont.)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378" y="1516951"/>
            <a:ext cx="8423021" cy="51755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5175" y="328803"/>
            <a:ext cx="548005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Employee</a:t>
            </a:r>
            <a:r>
              <a:rPr spc="165" dirty="0"/>
              <a:t> </a:t>
            </a:r>
            <a:r>
              <a:rPr dirty="0"/>
              <a:t>supertype</a:t>
            </a:r>
            <a:r>
              <a:rPr spc="120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dirty="0"/>
              <a:t>three</a:t>
            </a:r>
            <a:r>
              <a:rPr spc="55" dirty="0"/>
              <a:t> </a:t>
            </a:r>
            <a:r>
              <a:rPr spc="-10" dirty="0"/>
              <a:t>subtypes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032881" y="1828800"/>
            <a:ext cx="235394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All</a:t>
            </a:r>
            <a:r>
              <a:rPr sz="1800" spc="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employee</a:t>
            </a:r>
            <a:r>
              <a:rPr sz="18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subtypes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will</a:t>
            </a:r>
            <a:r>
              <a:rPr sz="1800" spc="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have emp</a:t>
            </a:r>
            <a:r>
              <a:rPr sz="18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nbr,</a:t>
            </a:r>
            <a:r>
              <a:rPr sz="1800" spc="-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name,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address,</a:t>
            </a:r>
            <a:r>
              <a:rPr sz="18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and</a:t>
            </a:r>
            <a:r>
              <a:rPr sz="18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date-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hired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1786" y="3688018"/>
            <a:ext cx="222504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Each</a:t>
            </a:r>
            <a:r>
              <a:rPr sz="180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employee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subtype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will</a:t>
            </a:r>
            <a:r>
              <a:rPr sz="1800" spc="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also</a:t>
            </a:r>
            <a:r>
              <a:rPr sz="1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have</a:t>
            </a:r>
            <a:r>
              <a:rPr sz="18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its </a:t>
            </a:r>
            <a:r>
              <a:rPr sz="1800" spc="-25" dirty="0">
                <a:solidFill>
                  <a:srgbClr val="990000"/>
                </a:solidFill>
                <a:latin typeface="Times New Roman"/>
                <a:cs typeface="Times New Roman"/>
              </a:rPr>
              <a:t>own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attributes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265" rIns="0" bIns="0" rtlCol="0">
            <a:spAutoFit/>
          </a:bodyPr>
          <a:lstStyle/>
          <a:p>
            <a:pPr marL="64770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Relationships</a:t>
            </a:r>
            <a:r>
              <a:rPr sz="4400" spc="-229" dirty="0"/>
              <a:t> </a:t>
            </a:r>
            <a:r>
              <a:rPr sz="4400" dirty="0"/>
              <a:t>and</a:t>
            </a:r>
            <a:r>
              <a:rPr sz="4400" spc="-114" dirty="0"/>
              <a:t> </a:t>
            </a:r>
            <a:r>
              <a:rPr sz="4400" spc="-10" dirty="0"/>
              <a:t>Subtypes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626552"/>
            <a:ext cx="7899400" cy="35394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60045" marR="5080" indent="-347980">
              <a:lnSpc>
                <a:spcPct val="102000"/>
              </a:lnSpc>
              <a:spcBef>
                <a:spcPts val="45"/>
              </a:spcBef>
              <a:buChar char="•"/>
              <a:tabLst>
                <a:tab pos="360045" algn="l"/>
              </a:tabLst>
            </a:pPr>
            <a:r>
              <a:rPr sz="3150" dirty="0">
                <a:latin typeface="Arial MT"/>
                <a:cs typeface="Arial MT"/>
              </a:rPr>
              <a:t>Relationships</a:t>
            </a:r>
            <a:r>
              <a:rPr sz="3150" spc="15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at</a:t>
            </a:r>
            <a:r>
              <a:rPr sz="3150" spc="-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25" dirty="0">
                <a:latin typeface="Arial MT"/>
                <a:cs typeface="Arial MT"/>
              </a:rPr>
              <a:t> </a:t>
            </a:r>
            <a:r>
              <a:rPr sz="3150" b="1" i="1" dirty="0">
                <a:latin typeface="Arial"/>
                <a:cs typeface="Arial"/>
              </a:rPr>
              <a:t>supertype</a:t>
            </a:r>
            <a:r>
              <a:rPr sz="3150" b="1" i="1" spc="150" dirty="0">
                <a:latin typeface="Arial"/>
                <a:cs typeface="Arial"/>
              </a:rPr>
              <a:t> </a:t>
            </a:r>
            <a:r>
              <a:rPr sz="3150" spc="-10" dirty="0">
                <a:latin typeface="Arial MT"/>
                <a:cs typeface="Arial MT"/>
              </a:rPr>
              <a:t>level </a:t>
            </a:r>
            <a:r>
              <a:rPr sz="3150" dirty="0">
                <a:latin typeface="Arial MT"/>
                <a:cs typeface="Arial MT"/>
              </a:rPr>
              <a:t>indicate</a:t>
            </a:r>
            <a:r>
              <a:rPr sz="3150" spc="1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that</a:t>
            </a:r>
            <a:r>
              <a:rPr sz="3150" spc="12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all</a:t>
            </a:r>
            <a:r>
              <a:rPr sz="3150" spc="-5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subtypes</a:t>
            </a:r>
            <a:r>
              <a:rPr sz="3150" spc="15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will</a:t>
            </a:r>
            <a:r>
              <a:rPr sz="3150" spc="-114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participate</a:t>
            </a:r>
            <a:r>
              <a:rPr sz="3150" spc="45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in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3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relationship</a:t>
            </a:r>
            <a:endParaRPr sz="3150">
              <a:latin typeface="Arial MT"/>
              <a:cs typeface="Arial MT"/>
            </a:endParaRPr>
          </a:p>
          <a:p>
            <a:pPr marL="360045" marR="116839" indent="-347980">
              <a:lnSpc>
                <a:spcPct val="101699"/>
              </a:lnSpc>
              <a:spcBef>
                <a:spcPts val="765"/>
              </a:spcBef>
              <a:buChar char="•"/>
              <a:tabLst>
                <a:tab pos="360045" algn="l"/>
                <a:tab pos="2117090" algn="l"/>
              </a:tabLst>
            </a:pPr>
            <a:r>
              <a:rPr sz="3150" dirty="0">
                <a:latin typeface="Arial MT"/>
                <a:cs typeface="Arial MT"/>
              </a:rPr>
              <a:t>The</a:t>
            </a:r>
            <a:r>
              <a:rPr sz="3150" spc="7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instances</a:t>
            </a:r>
            <a:r>
              <a:rPr sz="3150" spc="17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-5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-30" dirty="0">
                <a:latin typeface="Arial MT"/>
                <a:cs typeface="Arial MT"/>
              </a:rPr>
              <a:t> </a:t>
            </a:r>
            <a:r>
              <a:rPr sz="3150" b="1" i="1" dirty="0">
                <a:latin typeface="Arial"/>
                <a:cs typeface="Arial"/>
              </a:rPr>
              <a:t>subtype</a:t>
            </a:r>
            <a:r>
              <a:rPr sz="3150" b="1" i="1" spc="95" dirty="0">
                <a:latin typeface="Arial"/>
                <a:cs typeface="Arial"/>
              </a:rPr>
              <a:t> </a:t>
            </a:r>
            <a:r>
              <a:rPr sz="3150" spc="-25" dirty="0">
                <a:latin typeface="Arial MT"/>
                <a:cs typeface="Arial MT"/>
              </a:rPr>
              <a:t>may </a:t>
            </a:r>
            <a:r>
              <a:rPr sz="3150" dirty="0">
                <a:latin typeface="Arial MT"/>
                <a:cs typeface="Arial MT"/>
              </a:rPr>
              <a:t>participate</a:t>
            </a:r>
            <a:r>
              <a:rPr sz="3150" spc="3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in</a:t>
            </a:r>
            <a:r>
              <a:rPr sz="3150" spc="-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-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relationship</a:t>
            </a:r>
            <a:r>
              <a:rPr sz="3150" spc="17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unique</a:t>
            </a:r>
            <a:r>
              <a:rPr sz="3150" spc="1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to</a:t>
            </a:r>
            <a:r>
              <a:rPr sz="3150" spc="-25" dirty="0">
                <a:latin typeface="Arial MT"/>
                <a:cs typeface="Arial MT"/>
              </a:rPr>
              <a:t> </a:t>
            </a:r>
            <a:r>
              <a:rPr sz="3150" spc="-20" dirty="0">
                <a:latin typeface="Arial MT"/>
                <a:cs typeface="Arial MT"/>
              </a:rPr>
              <a:t>that </a:t>
            </a:r>
            <a:r>
              <a:rPr sz="3150" spc="-10" dirty="0">
                <a:latin typeface="Arial MT"/>
                <a:cs typeface="Arial MT"/>
              </a:rPr>
              <a:t>subtype.</a:t>
            </a:r>
            <a:r>
              <a:rPr sz="3150" dirty="0">
                <a:latin typeface="Arial MT"/>
                <a:cs typeface="Arial MT"/>
              </a:rPr>
              <a:t>	In</a:t>
            </a:r>
            <a:r>
              <a:rPr sz="3150" spc="1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this</a:t>
            </a:r>
            <a:r>
              <a:rPr sz="3150" spc="-1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situation,</a:t>
            </a:r>
            <a:r>
              <a:rPr sz="3150" spc="18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2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relationship </a:t>
            </a:r>
            <a:r>
              <a:rPr sz="3150" dirty="0">
                <a:latin typeface="Arial MT"/>
                <a:cs typeface="Arial MT"/>
              </a:rPr>
              <a:t>is</a:t>
            </a:r>
            <a:r>
              <a:rPr sz="3150" spc="-5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shown</a:t>
            </a:r>
            <a:r>
              <a:rPr sz="3150" spc="7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at</a:t>
            </a:r>
            <a:r>
              <a:rPr sz="3150" spc="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6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subtype</a:t>
            </a:r>
            <a:r>
              <a:rPr sz="3150" spc="14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level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036" y="1524000"/>
            <a:ext cx="7772400" cy="51785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260" y="23494"/>
            <a:ext cx="658050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Arial"/>
                <a:cs typeface="Arial"/>
              </a:rPr>
              <a:t>Supertype/subtype</a:t>
            </a:r>
            <a:r>
              <a:rPr b="1" spc="2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relationships</a:t>
            </a:r>
            <a:r>
              <a:rPr b="1" spc="2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hospital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9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743591" y="1524000"/>
            <a:ext cx="3651885" cy="3382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300605" marR="5080">
              <a:lnSpc>
                <a:spcPct val="100099"/>
              </a:lnSpc>
              <a:spcBef>
                <a:spcPts val="114"/>
              </a:spcBef>
            </a:pP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Both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outpatients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and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resident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patients</a:t>
            </a:r>
            <a:r>
              <a:rPr sz="2000" spc="-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cared for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by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responsible physician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1042669">
              <a:lnSpc>
                <a:spcPts val="2380"/>
              </a:lnSpc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Only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resident</a:t>
            </a:r>
            <a:r>
              <a:rPr sz="2000" spc="-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patients</a:t>
            </a:r>
            <a:r>
              <a:rPr sz="2000" spc="-8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assigned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0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bed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857" rIns="0" bIns="0" rtlCol="0">
            <a:spAutoFit/>
          </a:bodyPr>
          <a:lstStyle/>
          <a:p>
            <a:pPr marL="2376805" marR="5080" indent="-613410">
              <a:lnSpc>
                <a:spcPct val="101099"/>
              </a:lnSpc>
              <a:spcBef>
                <a:spcPts val="35"/>
              </a:spcBef>
            </a:pPr>
            <a:r>
              <a:rPr sz="4400" dirty="0"/>
              <a:t>Generalization</a:t>
            </a:r>
            <a:r>
              <a:rPr sz="4400" spc="-275" dirty="0"/>
              <a:t> </a:t>
            </a:r>
            <a:r>
              <a:rPr sz="4400" spc="-25" dirty="0"/>
              <a:t>and </a:t>
            </a:r>
            <a:r>
              <a:rPr sz="4400" spc="-10" dirty="0"/>
              <a:t>Specialization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626235"/>
            <a:ext cx="7987030" cy="416242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60045" marR="5080" indent="-347980">
              <a:lnSpc>
                <a:spcPct val="101499"/>
              </a:lnSpc>
              <a:spcBef>
                <a:spcPts val="40"/>
              </a:spcBef>
              <a:buFont typeface="Arial MT"/>
              <a:buChar char="•"/>
              <a:tabLst>
                <a:tab pos="360045" algn="l"/>
              </a:tabLst>
            </a:pPr>
            <a:r>
              <a:rPr sz="3600" b="1" i="1" dirty="0">
                <a:latin typeface="Arial"/>
                <a:cs typeface="Arial"/>
              </a:rPr>
              <a:t>Generalization:</a:t>
            </a:r>
            <a:r>
              <a:rPr sz="3600" b="1" i="1" spc="-295" dirty="0">
                <a:latin typeface="Arial"/>
                <a:cs typeface="Arial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12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process</a:t>
            </a:r>
            <a:r>
              <a:rPr sz="3150" spc="9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1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defining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-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more</a:t>
            </a:r>
            <a:r>
              <a:rPr sz="3150" spc="-8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general</a:t>
            </a:r>
            <a:r>
              <a:rPr sz="3150" spc="18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entity</a:t>
            </a:r>
            <a:r>
              <a:rPr sz="3150" spc="9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type</a:t>
            </a:r>
            <a:r>
              <a:rPr sz="3150" spc="6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from</a:t>
            </a:r>
            <a:r>
              <a:rPr sz="3150" spc="-2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-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set</a:t>
            </a:r>
            <a:r>
              <a:rPr sz="3150" spc="80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of </a:t>
            </a:r>
            <a:r>
              <a:rPr sz="3150" dirty="0">
                <a:latin typeface="Arial MT"/>
                <a:cs typeface="Arial MT"/>
              </a:rPr>
              <a:t>more</a:t>
            </a:r>
            <a:r>
              <a:rPr sz="3150" spc="-10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specialized</a:t>
            </a:r>
            <a:r>
              <a:rPr sz="3150" spc="10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entity</a:t>
            </a:r>
            <a:r>
              <a:rPr sz="3150" spc="1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types.</a:t>
            </a:r>
            <a:r>
              <a:rPr sz="3150" spc="5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BOTTOM- </a:t>
            </a:r>
            <a:r>
              <a:rPr sz="3150" spc="-25" dirty="0">
                <a:latin typeface="Arial MT"/>
                <a:cs typeface="Arial MT"/>
              </a:rPr>
              <a:t>UP</a:t>
            </a:r>
            <a:endParaRPr sz="3150">
              <a:latin typeface="Arial MT"/>
              <a:cs typeface="Arial MT"/>
            </a:endParaRPr>
          </a:p>
          <a:p>
            <a:pPr marL="360045" marR="100965" indent="-347980">
              <a:lnSpc>
                <a:spcPct val="101499"/>
              </a:lnSpc>
              <a:spcBef>
                <a:spcPts val="825"/>
              </a:spcBef>
              <a:buFont typeface="Arial MT"/>
              <a:buChar char="•"/>
              <a:tabLst>
                <a:tab pos="360045" algn="l"/>
              </a:tabLst>
            </a:pPr>
            <a:r>
              <a:rPr sz="3600" b="1" i="1" dirty="0">
                <a:latin typeface="Arial"/>
                <a:cs typeface="Arial"/>
              </a:rPr>
              <a:t>Specialization:</a:t>
            </a:r>
            <a:r>
              <a:rPr sz="3600" b="1" i="1" spc="-300" dirty="0">
                <a:latin typeface="Arial"/>
                <a:cs typeface="Arial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1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process</a:t>
            </a:r>
            <a:r>
              <a:rPr sz="3150" spc="114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2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defining </a:t>
            </a:r>
            <a:r>
              <a:rPr sz="3150" dirty="0">
                <a:latin typeface="Arial MT"/>
                <a:cs typeface="Arial MT"/>
              </a:rPr>
              <a:t>one</a:t>
            </a:r>
            <a:r>
              <a:rPr sz="3150" spc="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or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more</a:t>
            </a:r>
            <a:r>
              <a:rPr sz="3150" spc="-9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subtypes</a:t>
            </a:r>
            <a:r>
              <a:rPr sz="3150" spc="15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5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the</a:t>
            </a:r>
            <a:r>
              <a:rPr sz="3150" spc="5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supertype </a:t>
            </a:r>
            <a:r>
              <a:rPr sz="3150" dirty="0">
                <a:latin typeface="Arial MT"/>
                <a:cs typeface="Arial MT"/>
              </a:rPr>
              <a:t>and</a:t>
            </a:r>
            <a:r>
              <a:rPr sz="3150" spc="9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forming</a:t>
            </a:r>
            <a:r>
              <a:rPr sz="3150" spc="2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supertype/subtype </a:t>
            </a:r>
            <a:r>
              <a:rPr sz="3150" dirty="0">
                <a:latin typeface="Arial MT"/>
                <a:cs typeface="Arial MT"/>
              </a:rPr>
              <a:t>relationships.</a:t>
            </a:r>
            <a:r>
              <a:rPr sz="3150" spc="135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TOP-</a:t>
            </a:r>
            <a:r>
              <a:rPr sz="3150" spc="-20" dirty="0">
                <a:latin typeface="Arial MT"/>
                <a:cs typeface="Arial MT"/>
              </a:rPr>
              <a:t>DOWN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6205" y="-147803"/>
            <a:ext cx="7710805" cy="109410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164590">
              <a:lnSpc>
                <a:spcPct val="100000"/>
              </a:lnSpc>
              <a:spcBef>
                <a:spcPts val="1480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sz="23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generalization</a:t>
            </a: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a)</a:t>
            </a:r>
            <a:r>
              <a:rPr sz="23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Three</a:t>
            </a:r>
            <a:r>
              <a:rPr sz="2350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2350" spc="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types:</a:t>
            </a:r>
            <a:r>
              <a:rPr sz="2350" spc="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CAR,</a:t>
            </a:r>
            <a:r>
              <a:rPr sz="23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TRUCK,</a:t>
            </a:r>
            <a:r>
              <a:rPr sz="23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35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MOTORCYCLE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2997" y="5517845"/>
            <a:ext cx="621919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All</a:t>
            </a:r>
            <a:r>
              <a:rPr sz="235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these</a:t>
            </a:r>
            <a:r>
              <a:rPr sz="2350" spc="1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types</a:t>
            </a:r>
            <a:r>
              <a:rPr sz="2350" spc="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of</a:t>
            </a:r>
            <a:r>
              <a:rPr sz="235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vehicles</a:t>
            </a:r>
            <a:r>
              <a:rPr sz="2350" spc="2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have</a:t>
            </a:r>
            <a:r>
              <a:rPr sz="235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common</a:t>
            </a:r>
            <a:r>
              <a:rPr sz="2350" spc="2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attributes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7047"/>
            <a:ext cx="8458200" cy="3657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685774"/>
            <a:ext cx="6324600" cy="47274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24026" y="1814933"/>
            <a:ext cx="1466215" cy="148717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So</a:t>
            </a:r>
            <a:r>
              <a:rPr sz="2350" spc="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we</a:t>
            </a:r>
            <a:r>
              <a:rPr sz="2350" spc="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990000"/>
                </a:solidFill>
                <a:latin typeface="Times New Roman"/>
                <a:cs typeface="Times New Roman"/>
              </a:rPr>
              <a:t>put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350" spc="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shared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attributes</a:t>
            </a:r>
            <a:r>
              <a:rPr sz="2350" spc="1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25" dirty="0">
                <a:solidFill>
                  <a:srgbClr val="990000"/>
                </a:solidFill>
                <a:latin typeface="Times New Roman"/>
                <a:cs typeface="Times New Roman"/>
              </a:rPr>
              <a:t>in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350" spc="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supertype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85192" y="6329402"/>
            <a:ext cx="7973059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Note:</a:t>
            </a:r>
            <a:r>
              <a:rPr sz="2350" spc="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no</a:t>
            </a:r>
            <a:r>
              <a:rPr sz="2350" spc="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subtype</a:t>
            </a:r>
            <a:r>
              <a:rPr sz="2350" spc="1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for</a:t>
            </a:r>
            <a:r>
              <a:rPr sz="2350" spc="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motorcycle,</a:t>
            </a:r>
            <a:r>
              <a:rPr sz="2350" spc="2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since</a:t>
            </a:r>
            <a:r>
              <a:rPr sz="2350" spc="1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it</a:t>
            </a:r>
            <a:r>
              <a:rPr sz="235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has</a:t>
            </a:r>
            <a:r>
              <a:rPr sz="235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no</a:t>
            </a:r>
            <a:r>
              <a:rPr sz="235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unique</a:t>
            </a:r>
            <a:r>
              <a:rPr sz="2350" spc="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attributes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5663" y="176148"/>
            <a:ext cx="5457190" cy="998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r>
              <a:rPr sz="235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3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generalization</a:t>
            </a:r>
            <a:r>
              <a:rPr sz="2350" spc="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(cont.)</a:t>
            </a:r>
            <a:endParaRPr sz="2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b)</a:t>
            </a:r>
            <a:r>
              <a:rPr sz="23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Generalization</a:t>
            </a:r>
            <a:r>
              <a:rPr sz="2350" spc="25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VEHICLE</a:t>
            </a:r>
            <a:r>
              <a:rPr sz="23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supertype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" y="1905000"/>
            <a:ext cx="4733290" cy="3931920"/>
            <a:chOff x="758951" y="1298447"/>
            <a:chExt cx="4733290" cy="3931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951" y="1298447"/>
              <a:ext cx="4425696" cy="39319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03019" y="3662171"/>
              <a:ext cx="2212975" cy="311150"/>
            </a:xfrm>
            <a:custGeom>
              <a:avLst/>
              <a:gdLst/>
              <a:ahLst/>
              <a:cxnLst/>
              <a:rect l="l" t="t" r="r" b="b"/>
              <a:pathLst>
                <a:path w="2212975" h="311150">
                  <a:moveTo>
                    <a:pt x="0" y="310895"/>
                  </a:moveTo>
                  <a:lnTo>
                    <a:pt x="2212848" y="310895"/>
                  </a:lnTo>
                  <a:lnTo>
                    <a:pt x="2212848" y="0"/>
                  </a:lnTo>
                  <a:lnTo>
                    <a:pt x="0" y="0"/>
                  </a:lnTo>
                  <a:lnTo>
                    <a:pt x="0" y="310895"/>
                  </a:lnTo>
                  <a:close/>
                </a:path>
              </a:pathLst>
            </a:custGeom>
            <a:ln w="9153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9019" y="3273678"/>
              <a:ext cx="1903095" cy="494030"/>
            </a:xfrm>
            <a:custGeom>
              <a:avLst/>
              <a:gdLst/>
              <a:ahLst/>
              <a:cxnLst/>
              <a:rect l="l" t="t" r="r" b="b"/>
              <a:pathLst>
                <a:path w="1903095" h="494029">
                  <a:moveTo>
                    <a:pt x="108584" y="370205"/>
                  </a:moveTo>
                  <a:lnTo>
                    <a:pt x="0" y="461645"/>
                  </a:lnTo>
                  <a:lnTo>
                    <a:pt x="138302" y="493649"/>
                  </a:lnTo>
                  <a:lnTo>
                    <a:pt x="125247" y="439420"/>
                  </a:lnTo>
                  <a:lnTo>
                    <a:pt x="112140" y="439420"/>
                  </a:lnTo>
                  <a:lnTo>
                    <a:pt x="110108" y="430530"/>
                  </a:lnTo>
                  <a:lnTo>
                    <a:pt x="122396" y="427575"/>
                  </a:lnTo>
                  <a:lnTo>
                    <a:pt x="108584" y="370205"/>
                  </a:lnTo>
                  <a:close/>
                </a:path>
                <a:path w="1903095" h="494029">
                  <a:moveTo>
                    <a:pt x="122396" y="427575"/>
                  </a:moveTo>
                  <a:lnTo>
                    <a:pt x="110108" y="430530"/>
                  </a:lnTo>
                  <a:lnTo>
                    <a:pt x="112140" y="439420"/>
                  </a:lnTo>
                  <a:lnTo>
                    <a:pt x="124530" y="436441"/>
                  </a:lnTo>
                  <a:lnTo>
                    <a:pt x="122396" y="427575"/>
                  </a:lnTo>
                  <a:close/>
                </a:path>
                <a:path w="1903095" h="494029">
                  <a:moveTo>
                    <a:pt x="124530" y="436441"/>
                  </a:moveTo>
                  <a:lnTo>
                    <a:pt x="112140" y="439420"/>
                  </a:lnTo>
                  <a:lnTo>
                    <a:pt x="125247" y="439420"/>
                  </a:lnTo>
                  <a:lnTo>
                    <a:pt x="124530" y="436441"/>
                  </a:lnTo>
                  <a:close/>
                </a:path>
                <a:path w="1903095" h="494029">
                  <a:moveTo>
                    <a:pt x="1900935" y="0"/>
                  </a:moveTo>
                  <a:lnTo>
                    <a:pt x="122396" y="427575"/>
                  </a:lnTo>
                  <a:lnTo>
                    <a:pt x="124530" y="436441"/>
                  </a:lnTo>
                  <a:lnTo>
                    <a:pt x="1902967" y="8890"/>
                  </a:lnTo>
                  <a:lnTo>
                    <a:pt x="1900935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03019" y="4046219"/>
              <a:ext cx="3429000" cy="759460"/>
            </a:xfrm>
            <a:custGeom>
              <a:avLst/>
              <a:gdLst/>
              <a:ahLst/>
              <a:cxnLst/>
              <a:rect l="l" t="t" r="r" b="b"/>
              <a:pathLst>
                <a:path w="3429000" h="759460">
                  <a:moveTo>
                    <a:pt x="0" y="758951"/>
                  </a:moveTo>
                  <a:lnTo>
                    <a:pt x="3429000" y="758951"/>
                  </a:lnTo>
                  <a:lnTo>
                    <a:pt x="3429000" y="0"/>
                  </a:lnTo>
                  <a:lnTo>
                    <a:pt x="0" y="0"/>
                  </a:lnTo>
                  <a:lnTo>
                    <a:pt x="0" y="758951"/>
                  </a:lnTo>
                  <a:close/>
                </a:path>
              </a:pathLst>
            </a:custGeom>
            <a:ln w="9153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2019" y="4357624"/>
              <a:ext cx="759460" cy="127000"/>
            </a:xfrm>
            <a:custGeom>
              <a:avLst/>
              <a:gdLst/>
              <a:ahLst/>
              <a:cxnLst/>
              <a:rect l="l" t="t" r="r" b="b"/>
              <a:pathLst>
                <a:path w="759460" h="127000">
                  <a:moveTo>
                    <a:pt x="127000" y="0"/>
                  </a:moveTo>
                  <a:lnTo>
                    <a:pt x="0" y="63500"/>
                  </a:lnTo>
                  <a:lnTo>
                    <a:pt x="127000" y="127000"/>
                  </a:lnTo>
                  <a:lnTo>
                    <a:pt x="127000" y="68071"/>
                  </a:lnTo>
                  <a:lnTo>
                    <a:pt x="114300" y="68071"/>
                  </a:lnTo>
                  <a:lnTo>
                    <a:pt x="114300" y="58927"/>
                  </a:lnTo>
                  <a:lnTo>
                    <a:pt x="127000" y="58927"/>
                  </a:lnTo>
                  <a:lnTo>
                    <a:pt x="127000" y="0"/>
                  </a:lnTo>
                  <a:close/>
                </a:path>
                <a:path w="759460" h="127000">
                  <a:moveTo>
                    <a:pt x="127000" y="58927"/>
                  </a:moveTo>
                  <a:lnTo>
                    <a:pt x="114300" y="58927"/>
                  </a:lnTo>
                  <a:lnTo>
                    <a:pt x="114300" y="68071"/>
                  </a:lnTo>
                  <a:lnTo>
                    <a:pt x="127000" y="68071"/>
                  </a:lnTo>
                  <a:lnTo>
                    <a:pt x="127000" y="58927"/>
                  </a:lnTo>
                  <a:close/>
                </a:path>
                <a:path w="759460" h="127000">
                  <a:moveTo>
                    <a:pt x="758951" y="58927"/>
                  </a:moveTo>
                  <a:lnTo>
                    <a:pt x="127000" y="58927"/>
                  </a:lnTo>
                  <a:lnTo>
                    <a:pt x="127000" y="68071"/>
                  </a:lnTo>
                  <a:lnTo>
                    <a:pt x="758951" y="68071"/>
                  </a:lnTo>
                  <a:lnTo>
                    <a:pt x="758951" y="58927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43226" y="23494"/>
            <a:ext cx="343535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Example</a:t>
            </a:r>
            <a:r>
              <a:rPr spc="165" dirty="0"/>
              <a:t> </a:t>
            </a:r>
            <a:r>
              <a:rPr dirty="0"/>
              <a:t>of</a:t>
            </a:r>
            <a:r>
              <a:rPr spc="-10" dirty="0"/>
              <a:t> specialization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13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441191" y="633984"/>
            <a:ext cx="266954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a)</a:t>
            </a:r>
            <a:r>
              <a:rPr sz="23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235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r>
              <a:rPr sz="23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4838" y="3409950"/>
            <a:ext cx="199136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Only</a:t>
            </a:r>
            <a:r>
              <a:rPr sz="1800" spc="-3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applies</a:t>
            </a:r>
            <a:r>
              <a:rPr sz="1800" spc="-80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990000"/>
                </a:solidFill>
                <a:latin typeface="Tahoma"/>
                <a:cs typeface="Tahoma"/>
              </a:rPr>
              <a:t>to </a:t>
            </a:r>
            <a:r>
              <a:rPr sz="1800" spc="-10" dirty="0">
                <a:solidFill>
                  <a:srgbClr val="990000"/>
                </a:solidFill>
                <a:latin typeface="Tahoma"/>
                <a:cs typeface="Tahoma"/>
              </a:rPr>
              <a:t>manufactured</a:t>
            </a:r>
            <a:r>
              <a:rPr sz="1800" spc="-4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ahoma"/>
                <a:cs typeface="Tahoma"/>
              </a:rPr>
              <a:t>parts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2398" y="4685666"/>
            <a:ext cx="3187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Applies</a:t>
            </a:r>
            <a:r>
              <a:rPr sz="1800" spc="-8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only</a:t>
            </a:r>
            <a:r>
              <a:rPr sz="1800" spc="-3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to</a:t>
            </a:r>
            <a:r>
              <a:rPr sz="1800" spc="-4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990000"/>
                </a:solidFill>
                <a:latin typeface="Tahoma"/>
                <a:cs typeface="Tahoma"/>
              </a:rPr>
              <a:t>purchased</a:t>
            </a:r>
            <a:r>
              <a:rPr sz="1800" spc="5" dirty="0">
                <a:solidFill>
                  <a:srgbClr val="990000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ahoma"/>
                <a:cs typeface="Tahoma"/>
              </a:rPr>
              <a:t>parts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8359" y="1573128"/>
            <a:ext cx="8153261" cy="4481660"/>
            <a:chOff x="685800" y="1069847"/>
            <a:chExt cx="8001000" cy="4398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1069847"/>
              <a:ext cx="8001000" cy="43982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13247" y="1142999"/>
              <a:ext cx="3173095" cy="4114800"/>
            </a:xfrm>
            <a:custGeom>
              <a:avLst/>
              <a:gdLst/>
              <a:ahLst/>
              <a:cxnLst/>
              <a:rect l="l" t="t" r="r" b="b"/>
              <a:pathLst>
                <a:path w="3173095" h="4114800">
                  <a:moveTo>
                    <a:pt x="0" y="4114800"/>
                  </a:moveTo>
                  <a:lnTo>
                    <a:pt x="3172968" y="4114800"/>
                  </a:lnTo>
                  <a:lnTo>
                    <a:pt x="3172968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ln w="18288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0260" y="634301"/>
            <a:ext cx="79768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b)</a:t>
            </a:r>
            <a:r>
              <a:rPr sz="20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Specialization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MANUFACTURED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sz="2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PURCHASED</a:t>
            </a:r>
            <a:r>
              <a:rPr sz="20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6200" y="6054788"/>
            <a:ext cx="8991600" cy="6431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15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Note: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multivalued</a:t>
            </a:r>
            <a:r>
              <a:rPr sz="2000" spc="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attribute</a:t>
            </a:r>
            <a:r>
              <a:rPr sz="2000" spc="-1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was replaced by</a:t>
            </a:r>
            <a:r>
              <a:rPr sz="2000" spc="-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an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associative</a:t>
            </a:r>
            <a:r>
              <a:rPr sz="20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r>
              <a:rPr sz="2000" spc="-8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relationship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another</a:t>
            </a:r>
            <a:r>
              <a:rPr sz="20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4440" y="3168459"/>
            <a:ext cx="1200150" cy="7543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94615" marR="5080" indent="-82550">
              <a:lnSpc>
                <a:spcPct val="102200"/>
              </a:lnSpc>
              <a:spcBef>
                <a:spcPts val="65"/>
              </a:spcBef>
            </a:pPr>
            <a:r>
              <a:rPr sz="2350" dirty="0">
                <a:solidFill>
                  <a:srgbClr val="990000"/>
                </a:solidFill>
                <a:latin typeface="Times New Roman"/>
                <a:cs typeface="Times New Roman"/>
              </a:rPr>
              <a:t>Created</a:t>
            </a:r>
            <a:r>
              <a:rPr sz="2350" spc="1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350" spc="-50" dirty="0">
                <a:solidFill>
                  <a:srgbClr val="990000"/>
                </a:solidFill>
                <a:latin typeface="Times New Roman"/>
                <a:cs typeface="Times New Roman"/>
              </a:rPr>
              <a:t>2 </a:t>
            </a:r>
            <a:r>
              <a:rPr sz="2350" spc="-10" dirty="0">
                <a:solidFill>
                  <a:srgbClr val="990000"/>
                </a:solidFill>
                <a:latin typeface="Times New Roman"/>
                <a:cs typeface="Times New Roman"/>
              </a:rPr>
              <a:t>subtypes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85772" y="99822"/>
            <a:ext cx="439356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Example</a:t>
            </a:r>
            <a:r>
              <a:rPr spc="16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specialization</a:t>
            </a:r>
            <a:r>
              <a:rPr spc="160" dirty="0"/>
              <a:t> </a:t>
            </a:r>
            <a:r>
              <a:rPr spc="-10" dirty="0"/>
              <a:t>(cont.)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857" rIns="0" bIns="0" rtlCol="0">
            <a:spAutoFit/>
          </a:bodyPr>
          <a:lstStyle/>
          <a:p>
            <a:pPr marL="967740" marR="5080" indent="8890">
              <a:lnSpc>
                <a:spcPct val="101099"/>
              </a:lnSpc>
              <a:spcBef>
                <a:spcPts val="35"/>
              </a:spcBef>
            </a:pPr>
            <a:r>
              <a:rPr sz="4400" dirty="0"/>
              <a:t>Constraints</a:t>
            </a:r>
            <a:r>
              <a:rPr sz="4400" spc="-130" dirty="0"/>
              <a:t> </a:t>
            </a:r>
            <a:r>
              <a:rPr sz="4400" dirty="0"/>
              <a:t>in</a:t>
            </a:r>
            <a:r>
              <a:rPr sz="4400" spc="-100" dirty="0"/>
              <a:t> </a:t>
            </a:r>
            <a:r>
              <a:rPr sz="4400" spc="-10" dirty="0"/>
              <a:t>Supertype/ </a:t>
            </a:r>
            <a:r>
              <a:rPr sz="4400" dirty="0"/>
              <a:t>Completeness</a:t>
            </a:r>
            <a:r>
              <a:rPr sz="4400" spc="-265" dirty="0"/>
              <a:t> </a:t>
            </a:r>
            <a:r>
              <a:rPr sz="4400" spc="-10" dirty="0"/>
              <a:t>Constraint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7657" y="2227579"/>
            <a:ext cx="8497570" cy="3466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0045" marR="248920" indent="-34798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360045" algn="l"/>
              </a:tabLst>
            </a:pPr>
            <a:r>
              <a:rPr sz="40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Completeness</a:t>
            </a:r>
            <a:r>
              <a:rPr sz="4000" b="1" i="1" u="sng" spc="-1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4000" b="1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Constraints</a:t>
            </a:r>
            <a:r>
              <a:rPr sz="3600" spc="-10" dirty="0">
                <a:latin typeface="Arial MT"/>
                <a:cs typeface="Arial MT"/>
              </a:rPr>
              <a:t>: </a:t>
            </a:r>
            <a:r>
              <a:rPr sz="3600" dirty="0">
                <a:latin typeface="Arial MT"/>
                <a:cs typeface="Arial MT"/>
              </a:rPr>
              <a:t>Whether</a:t>
            </a:r>
            <a:r>
              <a:rPr sz="3600" spc="-15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 instance</a:t>
            </a:r>
            <a:r>
              <a:rPr sz="3600" spc="-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7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 </a:t>
            </a:r>
            <a:r>
              <a:rPr sz="3600" spc="-10" dirty="0">
                <a:latin typeface="Arial MT"/>
                <a:cs typeface="Arial MT"/>
              </a:rPr>
              <a:t>supertype </a:t>
            </a:r>
            <a:r>
              <a:rPr sz="3600" b="1" i="1" dirty="0">
                <a:latin typeface="Arial"/>
                <a:cs typeface="Arial"/>
              </a:rPr>
              <a:t>must</a:t>
            </a:r>
            <a:r>
              <a:rPr sz="3600" b="1" i="1" spc="-40" dirty="0">
                <a:latin typeface="Arial"/>
                <a:cs typeface="Arial"/>
              </a:rPr>
              <a:t> </a:t>
            </a:r>
            <a:r>
              <a:rPr sz="3600" dirty="0">
                <a:latin typeface="Arial MT"/>
                <a:cs typeface="Arial MT"/>
              </a:rPr>
              <a:t>also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be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member</a:t>
            </a:r>
            <a:r>
              <a:rPr sz="3600" spc="16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 at</a:t>
            </a:r>
            <a:r>
              <a:rPr sz="3600" spc="-6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least</a:t>
            </a:r>
            <a:r>
              <a:rPr sz="3600" spc="-60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one </a:t>
            </a:r>
            <a:r>
              <a:rPr sz="3600" spc="-10" dirty="0">
                <a:latin typeface="Arial MT"/>
                <a:cs typeface="Arial MT"/>
              </a:rPr>
              <a:t>subtype</a:t>
            </a:r>
            <a:endParaRPr sz="3600">
              <a:latin typeface="Arial MT"/>
              <a:cs typeface="Arial MT"/>
            </a:endParaRPr>
          </a:p>
          <a:p>
            <a:pPr marL="753110" lvl="1" indent="-283210">
              <a:lnSpc>
                <a:spcPct val="100000"/>
              </a:lnSpc>
              <a:spcBef>
                <a:spcPts val="900"/>
              </a:spcBef>
              <a:buChar char="–"/>
              <a:tabLst>
                <a:tab pos="753110" algn="l"/>
              </a:tabLst>
            </a:pPr>
            <a:r>
              <a:rPr sz="3150" dirty="0">
                <a:latin typeface="Arial MT"/>
                <a:cs typeface="Arial MT"/>
              </a:rPr>
              <a:t>Total</a:t>
            </a:r>
            <a:r>
              <a:rPr sz="3150" spc="10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Specialization</a:t>
            </a:r>
            <a:r>
              <a:rPr sz="3150" spc="1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Rule:</a:t>
            </a:r>
            <a:r>
              <a:rPr sz="3150" spc="2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Yes</a:t>
            </a:r>
            <a:r>
              <a:rPr sz="3150" spc="1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(double</a:t>
            </a:r>
            <a:r>
              <a:rPr sz="3150" spc="1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line)</a:t>
            </a:r>
            <a:endParaRPr sz="3150">
              <a:latin typeface="Arial MT"/>
              <a:cs typeface="Arial MT"/>
            </a:endParaRPr>
          </a:p>
          <a:p>
            <a:pPr marL="752475" lvl="1" indent="-282575">
              <a:lnSpc>
                <a:spcPct val="100000"/>
              </a:lnSpc>
              <a:spcBef>
                <a:spcPts val="830"/>
              </a:spcBef>
              <a:buChar char="–"/>
              <a:tabLst>
                <a:tab pos="752475" algn="l"/>
              </a:tabLst>
            </a:pPr>
            <a:r>
              <a:rPr sz="3150" dirty="0">
                <a:latin typeface="Arial MT"/>
                <a:cs typeface="Arial MT"/>
              </a:rPr>
              <a:t>Partial</a:t>
            </a:r>
            <a:r>
              <a:rPr sz="3150" spc="9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Specialization</a:t>
            </a:r>
            <a:r>
              <a:rPr sz="3150" spc="19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Rule:</a:t>
            </a:r>
            <a:r>
              <a:rPr sz="3150" spc="6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No</a:t>
            </a:r>
            <a:r>
              <a:rPr sz="3150" spc="4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(single</a:t>
            </a:r>
            <a:r>
              <a:rPr sz="3150" spc="-15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line)</a:t>
            </a:r>
            <a:endParaRPr sz="3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3792" y="1812965"/>
            <a:ext cx="8205407" cy="4710430"/>
            <a:chOff x="841247" y="1143000"/>
            <a:chExt cx="7388859" cy="44900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247" y="1143000"/>
              <a:ext cx="7388352" cy="44897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33571" y="2857500"/>
              <a:ext cx="759460" cy="302260"/>
            </a:xfrm>
            <a:custGeom>
              <a:avLst/>
              <a:gdLst/>
              <a:ahLst/>
              <a:cxnLst/>
              <a:rect l="l" t="t" r="r" b="b"/>
              <a:pathLst>
                <a:path w="759460" h="302260">
                  <a:moveTo>
                    <a:pt x="188594" y="0"/>
                  </a:moveTo>
                  <a:lnTo>
                    <a:pt x="0" y="150875"/>
                  </a:lnTo>
                  <a:lnTo>
                    <a:pt x="188594" y="301751"/>
                  </a:lnTo>
                  <a:lnTo>
                    <a:pt x="188594" y="226313"/>
                  </a:lnTo>
                  <a:lnTo>
                    <a:pt x="758951" y="226313"/>
                  </a:lnTo>
                  <a:lnTo>
                    <a:pt x="758951" y="75437"/>
                  </a:lnTo>
                  <a:lnTo>
                    <a:pt x="188594" y="75437"/>
                  </a:lnTo>
                  <a:lnTo>
                    <a:pt x="188594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33571" y="2857500"/>
              <a:ext cx="759460" cy="302260"/>
            </a:xfrm>
            <a:custGeom>
              <a:avLst/>
              <a:gdLst/>
              <a:ahLst/>
              <a:cxnLst/>
              <a:rect l="l" t="t" r="r" b="b"/>
              <a:pathLst>
                <a:path w="759460" h="302260">
                  <a:moveTo>
                    <a:pt x="0" y="150875"/>
                  </a:moveTo>
                  <a:lnTo>
                    <a:pt x="188594" y="0"/>
                  </a:lnTo>
                  <a:lnTo>
                    <a:pt x="188594" y="75437"/>
                  </a:lnTo>
                  <a:lnTo>
                    <a:pt x="758951" y="75437"/>
                  </a:lnTo>
                  <a:lnTo>
                    <a:pt x="758951" y="226313"/>
                  </a:lnTo>
                  <a:lnTo>
                    <a:pt x="188594" y="226313"/>
                  </a:lnTo>
                  <a:lnTo>
                    <a:pt x="188594" y="301751"/>
                  </a:lnTo>
                  <a:lnTo>
                    <a:pt x="0" y="150875"/>
                  </a:lnTo>
                  <a:close/>
                </a:path>
              </a:pathLst>
            </a:custGeom>
            <a:ln w="9153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1863" y="23494"/>
            <a:ext cx="518287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37640" algn="l"/>
                <a:tab pos="3738879" algn="l"/>
              </a:tabLst>
            </a:pPr>
            <a:r>
              <a:rPr spc="-10" dirty="0"/>
              <a:t>Examples</a:t>
            </a:r>
            <a:r>
              <a:rPr dirty="0"/>
              <a:t>	of</a:t>
            </a:r>
            <a:r>
              <a:rPr spc="15" dirty="0"/>
              <a:t> </a:t>
            </a:r>
            <a:r>
              <a:rPr spc="-10" dirty="0"/>
              <a:t>completeness</a:t>
            </a:r>
            <a:r>
              <a:rPr dirty="0"/>
              <a:t>	</a:t>
            </a:r>
            <a:r>
              <a:rPr spc="-10" dirty="0"/>
              <a:t>constraints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2983357" y="633984"/>
            <a:ext cx="360616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74115" algn="l"/>
              </a:tabLst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a)</a:t>
            </a:r>
            <a:r>
              <a:rPr sz="23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	specialization</a:t>
            </a:r>
            <a:r>
              <a:rPr sz="235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Arial MT"/>
                <a:cs typeface="Arial MT"/>
              </a:rPr>
              <a:t>rule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5400" y="3611602"/>
            <a:ext cx="2453005" cy="937894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15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1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patient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must</a:t>
            </a:r>
            <a:r>
              <a:rPr sz="2000" spc="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be</a:t>
            </a:r>
            <a:r>
              <a:rPr sz="20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either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an outpatient</a:t>
            </a:r>
            <a:r>
              <a:rPr sz="2000" spc="-5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990000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resident</a:t>
            </a:r>
            <a:r>
              <a:rPr sz="20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patient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4394" y="1524000"/>
            <a:ext cx="6177280" cy="5234178"/>
            <a:chOff x="987552" y="987552"/>
            <a:chExt cx="6177280" cy="5294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552" y="987552"/>
              <a:ext cx="6025896" cy="529437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40124" y="3195193"/>
              <a:ext cx="3124835" cy="358140"/>
            </a:xfrm>
            <a:custGeom>
              <a:avLst/>
              <a:gdLst/>
              <a:ahLst/>
              <a:cxnLst/>
              <a:rect l="l" t="t" r="r" b="b"/>
              <a:pathLst>
                <a:path w="3124834" h="358139">
                  <a:moveTo>
                    <a:pt x="3117723" y="0"/>
                  </a:moveTo>
                  <a:lnTo>
                    <a:pt x="432815" y="118110"/>
                  </a:lnTo>
                  <a:lnTo>
                    <a:pt x="429133" y="35814"/>
                  </a:lnTo>
                  <a:lnTo>
                    <a:pt x="0" y="215900"/>
                  </a:lnTo>
                  <a:lnTo>
                    <a:pt x="443356" y="357759"/>
                  </a:lnTo>
                  <a:lnTo>
                    <a:pt x="439674" y="275463"/>
                  </a:lnTo>
                  <a:lnTo>
                    <a:pt x="3124580" y="157353"/>
                  </a:lnTo>
                  <a:lnTo>
                    <a:pt x="3117723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14626" y="557656"/>
            <a:ext cx="373951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b)</a:t>
            </a:r>
            <a:r>
              <a:rPr sz="23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Partial</a:t>
            </a:r>
            <a:r>
              <a:rPr sz="23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specialization</a:t>
            </a:r>
            <a:r>
              <a:rPr sz="23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Arial MT"/>
                <a:cs typeface="Arial MT"/>
              </a:rPr>
              <a:t>rule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301928" y="3081912"/>
            <a:ext cx="1217295" cy="12490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14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vehicle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could be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990000"/>
                </a:solidFill>
                <a:latin typeface="Times New Roman"/>
                <a:cs typeface="Times New Roman"/>
              </a:rPr>
              <a:t>a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car,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1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truck,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or</a:t>
            </a:r>
            <a:r>
              <a:rPr sz="20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neither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4079" y="99822"/>
            <a:ext cx="615759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40180" algn="l"/>
                <a:tab pos="3746500" algn="l"/>
              </a:tabLst>
            </a:pPr>
            <a:r>
              <a:rPr spc="-10" dirty="0"/>
              <a:t>Examples</a:t>
            </a:r>
            <a:r>
              <a:rPr dirty="0"/>
              <a:t>	of</a:t>
            </a:r>
            <a:r>
              <a:rPr spc="25" dirty="0"/>
              <a:t> </a:t>
            </a:r>
            <a:r>
              <a:rPr spc="-10" dirty="0"/>
              <a:t>completeness</a:t>
            </a:r>
            <a:r>
              <a:rPr dirty="0"/>
              <a:t>	constraints</a:t>
            </a:r>
            <a:r>
              <a:rPr spc="95" dirty="0"/>
              <a:t> </a:t>
            </a:r>
            <a:r>
              <a:rPr spc="-10" dirty="0"/>
              <a:t>(cont.)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857" rIns="0" bIns="0" rtlCol="0">
            <a:spAutoFit/>
          </a:bodyPr>
          <a:lstStyle/>
          <a:p>
            <a:pPr marL="1306830" marR="5080" indent="-329565">
              <a:lnSpc>
                <a:spcPct val="101099"/>
              </a:lnSpc>
              <a:spcBef>
                <a:spcPts val="35"/>
              </a:spcBef>
            </a:pPr>
            <a:r>
              <a:rPr sz="4400" dirty="0"/>
              <a:t>Constraints</a:t>
            </a:r>
            <a:r>
              <a:rPr sz="4400" spc="-130" dirty="0"/>
              <a:t> </a:t>
            </a:r>
            <a:r>
              <a:rPr sz="4400" dirty="0"/>
              <a:t>in</a:t>
            </a:r>
            <a:r>
              <a:rPr sz="4400" spc="-100" dirty="0"/>
              <a:t> </a:t>
            </a:r>
            <a:r>
              <a:rPr sz="4400" spc="-10" dirty="0"/>
              <a:t>Supertype/ </a:t>
            </a:r>
            <a:r>
              <a:rPr sz="4400" dirty="0"/>
              <a:t>Disjointness</a:t>
            </a:r>
            <a:r>
              <a:rPr sz="4400" spc="-145" dirty="0"/>
              <a:t> </a:t>
            </a:r>
            <a:r>
              <a:rPr sz="4400" spc="-10" dirty="0"/>
              <a:t>constraint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6575" y="1626235"/>
            <a:ext cx="7627620" cy="391541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60045" marR="5080" indent="-347980">
              <a:lnSpc>
                <a:spcPct val="101499"/>
              </a:lnSpc>
              <a:spcBef>
                <a:spcPts val="40"/>
              </a:spcBef>
              <a:buFont typeface="Arial MT"/>
              <a:buChar char="•"/>
              <a:tabLst>
                <a:tab pos="360045" algn="l"/>
                <a:tab pos="6089650" algn="l"/>
              </a:tabLst>
            </a:pPr>
            <a:r>
              <a:rPr sz="360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Disjointness</a:t>
            </a:r>
            <a:r>
              <a:rPr sz="3600" b="1" i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600" b="1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Constraints</a:t>
            </a:r>
            <a:r>
              <a:rPr sz="3150" spc="-10" dirty="0">
                <a:latin typeface="Arial MT"/>
                <a:cs typeface="Arial MT"/>
              </a:rPr>
              <a:t>:</a:t>
            </a:r>
            <a:r>
              <a:rPr sz="3150" dirty="0">
                <a:latin typeface="Arial MT"/>
                <a:cs typeface="Arial MT"/>
              </a:rPr>
              <a:t>	</a:t>
            </a:r>
            <a:r>
              <a:rPr sz="3150" spc="-10" dirty="0">
                <a:latin typeface="Arial MT"/>
                <a:cs typeface="Arial MT"/>
              </a:rPr>
              <a:t>Whether </a:t>
            </a:r>
            <a:r>
              <a:rPr sz="3150" dirty="0">
                <a:latin typeface="Arial MT"/>
                <a:cs typeface="Arial MT"/>
              </a:rPr>
              <a:t>an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instance</a:t>
            </a:r>
            <a:r>
              <a:rPr sz="3150" spc="10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-4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supertype</a:t>
            </a:r>
            <a:r>
              <a:rPr sz="3150" spc="100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may </a:t>
            </a:r>
            <a:r>
              <a:rPr sz="3150" i="1" dirty="0">
                <a:latin typeface="Arial"/>
                <a:cs typeface="Arial"/>
              </a:rPr>
              <a:t>simultaneously</a:t>
            </a:r>
            <a:r>
              <a:rPr sz="3150" i="1" spc="360" dirty="0">
                <a:latin typeface="Arial"/>
                <a:cs typeface="Arial"/>
              </a:rPr>
              <a:t> </a:t>
            </a:r>
            <a:r>
              <a:rPr sz="3150" dirty="0">
                <a:latin typeface="Arial MT"/>
                <a:cs typeface="Arial MT"/>
              </a:rPr>
              <a:t>be</a:t>
            </a:r>
            <a:r>
              <a:rPr sz="3150" spc="1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a</a:t>
            </a:r>
            <a:r>
              <a:rPr sz="3150" spc="1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member</a:t>
            </a:r>
            <a:r>
              <a:rPr sz="3150" spc="-75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of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dirty="0">
                <a:latin typeface="Arial MT"/>
                <a:cs typeface="Arial MT"/>
              </a:rPr>
              <a:t>two</a:t>
            </a:r>
            <a:r>
              <a:rPr sz="3150" spc="-55" dirty="0">
                <a:latin typeface="Arial MT"/>
                <a:cs typeface="Arial MT"/>
              </a:rPr>
              <a:t> </a:t>
            </a:r>
            <a:r>
              <a:rPr sz="3150" spc="-25" dirty="0">
                <a:latin typeface="Arial MT"/>
                <a:cs typeface="Arial MT"/>
              </a:rPr>
              <a:t>(or </a:t>
            </a:r>
            <a:r>
              <a:rPr sz="3150" dirty="0">
                <a:latin typeface="Arial MT"/>
                <a:cs typeface="Arial MT"/>
              </a:rPr>
              <a:t>more)</a:t>
            </a:r>
            <a:r>
              <a:rPr sz="3150" spc="30" dirty="0">
                <a:latin typeface="Arial MT"/>
                <a:cs typeface="Arial MT"/>
              </a:rPr>
              <a:t> </a:t>
            </a:r>
            <a:r>
              <a:rPr sz="3150" spc="-10" dirty="0">
                <a:latin typeface="Arial MT"/>
                <a:cs typeface="Arial MT"/>
              </a:rPr>
              <a:t>subtypes</a:t>
            </a:r>
            <a:endParaRPr sz="3150">
              <a:latin typeface="Arial MT"/>
              <a:cs typeface="Arial MT"/>
            </a:endParaRPr>
          </a:p>
          <a:p>
            <a:pPr marL="752475" marR="149860" lvl="1" indent="-282575">
              <a:lnSpc>
                <a:spcPct val="100899"/>
              </a:lnSpc>
              <a:spcBef>
                <a:spcPts val="645"/>
              </a:spcBef>
              <a:buChar char="–"/>
              <a:tabLst>
                <a:tab pos="753745" algn="l"/>
              </a:tabLst>
            </a:pPr>
            <a:r>
              <a:rPr sz="2800" dirty="0">
                <a:latin typeface="Arial MT"/>
                <a:cs typeface="Arial MT"/>
              </a:rPr>
              <a:t>Disjoint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Rule: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instance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supertype 	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subtypes</a:t>
            </a:r>
            <a:endParaRPr sz="2800">
              <a:latin typeface="Arial MT"/>
              <a:cs typeface="Arial MT"/>
            </a:endParaRPr>
          </a:p>
          <a:p>
            <a:pPr marL="752475" marR="74930" lvl="1" indent="-282575">
              <a:lnSpc>
                <a:spcPts val="3320"/>
              </a:lnSpc>
              <a:spcBef>
                <a:spcPts val="819"/>
              </a:spcBef>
              <a:buChar char="–"/>
              <a:tabLst>
                <a:tab pos="753745" algn="l"/>
              </a:tabLst>
            </a:pPr>
            <a:r>
              <a:rPr sz="2800" dirty="0">
                <a:latin typeface="Arial MT"/>
                <a:cs typeface="Arial MT"/>
              </a:rPr>
              <a:t>Overlap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Rule: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instance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supertype 	</a:t>
            </a:r>
            <a:r>
              <a:rPr sz="2800" dirty="0">
                <a:latin typeface="Arial MT"/>
                <a:cs typeface="Arial MT"/>
              </a:rPr>
              <a:t>could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subtypes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046" y="1632306"/>
            <a:ext cx="8156575" cy="4874260"/>
            <a:chOff x="530351" y="1069847"/>
            <a:chExt cx="8156575" cy="48742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1" y="1069847"/>
              <a:ext cx="8156448" cy="48737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55847" y="3291840"/>
              <a:ext cx="1015365" cy="311150"/>
            </a:xfrm>
            <a:custGeom>
              <a:avLst/>
              <a:gdLst/>
              <a:ahLst/>
              <a:cxnLst/>
              <a:rect l="l" t="t" r="r" b="b"/>
              <a:pathLst>
                <a:path w="1015364" h="311150">
                  <a:moveTo>
                    <a:pt x="259079" y="0"/>
                  </a:moveTo>
                  <a:lnTo>
                    <a:pt x="0" y="155448"/>
                  </a:lnTo>
                  <a:lnTo>
                    <a:pt x="259079" y="310896"/>
                  </a:lnTo>
                  <a:lnTo>
                    <a:pt x="259079" y="233172"/>
                  </a:lnTo>
                  <a:lnTo>
                    <a:pt x="1014984" y="233172"/>
                  </a:lnTo>
                  <a:lnTo>
                    <a:pt x="1014984" y="77724"/>
                  </a:lnTo>
                  <a:lnTo>
                    <a:pt x="259079" y="77724"/>
                  </a:lnTo>
                  <a:lnTo>
                    <a:pt x="259079" y="0"/>
                  </a:lnTo>
                  <a:close/>
                </a:path>
              </a:pathLst>
            </a:custGeom>
            <a:solidFill>
              <a:srgbClr val="9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669791" y="633984"/>
            <a:ext cx="196977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a)</a:t>
            </a:r>
            <a:r>
              <a:rPr sz="23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Disjoint</a:t>
            </a:r>
            <a:r>
              <a:rPr sz="235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-20" dirty="0">
                <a:solidFill>
                  <a:srgbClr val="FFFFFF"/>
                </a:solidFill>
                <a:latin typeface="Arial MT"/>
                <a:cs typeface="Arial MT"/>
              </a:rPr>
              <a:t>rule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19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99336" y="23494"/>
            <a:ext cx="489775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38275" algn="l"/>
              </a:tabLst>
            </a:pPr>
            <a:r>
              <a:rPr spc="-10" dirty="0"/>
              <a:t>Examples</a:t>
            </a:r>
            <a:r>
              <a:rPr dirty="0"/>
              <a:t>	of</a:t>
            </a:r>
            <a:r>
              <a:rPr spc="-10" dirty="0"/>
              <a:t> </a:t>
            </a:r>
            <a:r>
              <a:rPr dirty="0"/>
              <a:t>disjointness</a:t>
            </a:r>
            <a:r>
              <a:rPr spc="145" dirty="0"/>
              <a:t> </a:t>
            </a:r>
            <a:r>
              <a:rPr spc="-10" dirty="0"/>
              <a:t>constraints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6873" y="3692056"/>
            <a:ext cx="3396615" cy="6356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215"/>
              </a:spcBef>
            </a:pP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000" spc="-10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patient</a:t>
            </a:r>
            <a:r>
              <a:rPr sz="2000" spc="-6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either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be</a:t>
            </a:r>
            <a:r>
              <a:rPr sz="20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outpatient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or</a:t>
            </a:r>
            <a:r>
              <a:rPr sz="20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resident,</a:t>
            </a:r>
            <a:r>
              <a:rPr sz="20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but</a:t>
            </a:r>
            <a:r>
              <a:rPr sz="20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not</a:t>
            </a:r>
            <a:r>
              <a:rPr sz="20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990000"/>
                </a:solidFill>
                <a:latin typeface="Times New Roman"/>
                <a:cs typeface="Times New Roman"/>
              </a:rPr>
              <a:t>both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324292"/>
            <a:ext cx="8686800" cy="52029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97603" y="862965"/>
            <a:ext cx="2033905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dirty="0">
                <a:latin typeface="Arial MT"/>
                <a:cs typeface="Arial MT"/>
              </a:rPr>
              <a:t>b)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Overlap</a:t>
            </a:r>
            <a:r>
              <a:rPr sz="2350" spc="17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rule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800" y="3443287"/>
            <a:ext cx="548640" cy="302260"/>
          </a:xfrm>
          <a:custGeom>
            <a:avLst/>
            <a:gdLst/>
            <a:ahLst/>
            <a:cxnLst/>
            <a:rect l="l" t="t" r="r" b="b"/>
            <a:pathLst>
              <a:path w="548639" h="302260">
                <a:moveTo>
                  <a:pt x="136778" y="0"/>
                </a:moveTo>
                <a:lnTo>
                  <a:pt x="0" y="150875"/>
                </a:lnTo>
                <a:lnTo>
                  <a:pt x="136778" y="301751"/>
                </a:lnTo>
                <a:lnTo>
                  <a:pt x="136778" y="226313"/>
                </a:lnTo>
                <a:lnTo>
                  <a:pt x="548639" y="226313"/>
                </a:lnTo>
                <a:lnTo>
                  <a:pt x="548639" y="75437"/>
                </a:lnTo>
                <a:lnTo>
                  <a:pt x="136778" y="75437"/>
                </a:lnTo>
                <a:lnTo>
                  <a:pt x="136778" y="0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69028" y="3169602"/>
            <a:ext cx="178816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18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part</a:t>
            </a: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may</a:t>
            </a:r>
            <a:r>
              <a:rPr sz="18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be</a:t>
            </a:r>
            <a:r>
              <a:rPr sz="18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both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purchased</a:t>
            </a:r>
            <a:r>
              <a:rPr sz="1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990000"/>
                </a:solidFill>
                <a:latin typeface="Times New Roman"/>
                <a:cs typeface="Times New Roman"/>
              </a:rPr>
              <a:t>and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manufactured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7778" y="99822"/>
            <a:ext cx="641477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latin typeface="Arial"/>
                <a:cs typeface="Arial"/>
              </a:rPr>
              <a:t>Examples</a:t>
            </a:r>
            <a:r>
              <a:rPr b="1" spc="18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disjointness</a:t>
            </a:r>
            <a:r>
              <a:rPr b="1" spc="1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constraints</a:t>
            </a:r>
            <a:r>
              <a:rPr b="1" spc="17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(cont.)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857" rIns="0" bIns="0" rtlCol="0">
            <a:spAutoFit/>
          </a:bodyPr>
          <a:lstStyle/>
          <a:p>
            <a:pPr marL="1223645" marR="5080" indent="-247015">
              <a:lnSpc>
                <a:spcPct val="101099"/>
              </a:lnSpc>
              <a:spcBef>
                <a:spcPts val="35"/>
              </a:spcBef>
            </a:pPr>
            <a:r>
              <a:rPr sz="4400" dirty="0"/>
              <a:t>Constraints</a:t>
            </a:r>
            <a:r>
              <a:rPr sz="4400" spc="-130" dirty="0"/>
              <a:t> </a:t>
            </a:r>
            <a:r>
              <a:rPr sz="4400" dirty="0"/>
              <a:t>in</a:t>
            </a:r>
            <a:r>
              <a:rPr sz="4400" spc="-100" dirty="0"/>
              <a:t> </a:t>
            </a:r>
            <a:r>
              <a:rPr sz="4400" spc="-10" dirty="0"/>
              <a:t>Supertype/ </a:t>
            </a:r>
            <a:r>
              <a:rPr sz="4400" dirty="0"/>
              <a:t>Subtype</a:t>
            </a:r>
            <a:r>
              <a:rPr sz="4400" spc="-100" dirty="0"/>
              <a:t> </a:t>
            </a:r>
            <a:r>
              <a:rPr sz="4400" spc="-10" dirty="0"/>
              <a:t>Discriminators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0045" marR="257810" indent="-347980">
              <a:lnSpc>
                <a:spcPct val="100800"/>
              </a:lnSpc>
              <a:spcBef>
                <a:spcPts val="90"/>
              </a:spcBef>
              <a:buFont typeface="Arial MT"/>
              <a:buChar char="•"/>
              <a:tabLst>
                <a:tab pos="360045" algn="l"/>
              </a:tabLst>
            </a:pPr>
            <a:r>
              <a:rPr sz="315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Subtype</a:t>
            </a:r>
            <a:r>
              <a:rPr sz="3150" b="1" i="1" u="sng" spc="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3150" b="1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Discriminator</a:t>
            </a:r>
            <a:r>
              <a:rPr dirty="0"/>
              <a:t>:</a:t>
            </a:r>
            <a:r>
              <a:rPr spc="285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dirty="0"/>
              <a:t>attribute</a:t>
            </a:r>
            <a:r>
              <a:rPr spc="-12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5" dirty="0"/>
              <a:t>the </a:t>
            </a:r>
            <a:r>
              <a:rPr dirty="0"/>
              <a:t>supertype</a:t>
            </a:r>
            <a:r>
              <a:rPr spc="-5" dirty="0"/>
              <a:t> </a:t>
            </a:r>
            <a:r>
              <a:rPr dirty="0"/>
              <a:t>whose</a:t>
            </a:r>
            <a:r>
              <a:rPr spc="-75" dirty="0"/>
              <a:t> </a:t>
            </a:r>
            <a:r>
              <a:rPr dirty="0"/>
              <a:t>values</a:t>
            </a:r>
            <a:r>
              <a:rPr spc="10" dirty="0"/>
              <a:t> </a:t>
            </a:r>
            <a:r>
              <a:rPr dirty="0"/>
              <a:t>determine</a:t>
            </a:r>
            <a:r>
              <a:rPr spc="-15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target subtype(s)</a:t>
            </a:r>
            <a:endParaRPr sz="3150">
              <a:latin typeface="Arial"/>
              <a:cs typeface="Arial"/>
            </a:endParaRPr>
          </a:p>
          <a:p>
            <a:pPr marL="752475" lvl="1" indent="-282575" algn="just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752475" algn="l"/>
              </a:tabLst>
            </a:pPr>
            <a:r>
              <a:rPr sz="2350" b="1" dirty="0">
                <a:latin typeface="Arial"/>
                <a:cs typeface="Arial"/>
              </a:rPr>
              <a:t>Disjoint</a:t>
            </a:r>
            <a:r>
              <a:rPr sz="2350" b="1" spc="60" dirty="0">
                <a:latin typeface="Arial"/>
                <a:cs typeface="Arial"/>
              </a:rPr>
              <a:t> </a:t>
            </a:r>
            <a:r>
              <a:rPr sz="2350" dirty="0">
                <a:latin typeface="Arial MT"/>
                <a:cs typeface="Arial MT"/>
              </a:rPr>
              <a:t>–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i="1" dirty="0">
                <a:latin typeface="Arial"/>
                <a:cs typeface="Arial"/>
              </a:rPr>
              <a:t>simple</a:t>
            </a:r>
            <a:r>
              <a:rPr sz="2350" i="1" spc="170" dirty="0">
                <a:latin typeface="Arial"/>
                <a:cs typeface="Arial"/>
              </a:rPr>
              <a:t> </a:t>
            </a:r>
            <a:r>
              <a:rPr sz="2350" dirty="0">
                <a:latin typeface="Arial MT"/>
                <a:cs typeface="Arial MT"/>
              </a:rPr>
              <a:t>attribute</a:t>
            </a:r>
            <a:r>
              <a:rPr sz="2350" spc="10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with</a:t>
            </a:r>
            <a:r>
              <a:rPr sz="2350" spc="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alternative</a:t>
            </a:r>
            <a:r>
              <a:rPr sz="2350" spc="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values</a:t>
            </a:r>
            <a:r>
              <a:rPr sz="2350" spc="21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to</a:t>
            </a:r>
            <a:endParaRPr sz="2350">
              <a:latin typeface="Arial MT"/>
              <a:cs typeface="Arial MT"/>
            </a:endParaRPr>
          </a:p>
          <a:p>
            <a:pPr marL="753745" algn="just">
              <a:lnSpc>
                <a:spcPct val="100000"/>
              </a:lnSpc>
              <a:spcBef>
                <a:spcPts val="65"/>
              </a:spcBef>
            </a:pPr>
            <a:r>
              <a:rPr sz="2350" dirty="0"/>
              <a:t>indicate</a:t>
            </a:r>
            <a:r>
              <a:rPr sz="2350" spc="140" dirty="0"/>
              <a:t> </a:t>
            </a:r>
            <a:r>
              <a:rPr sz="2350" dirty="0"/>
              <a:t>the</a:t>
            </a:r>
            <a:r>
              <a:rPr sz="2350" spc="20" dirty="0"/>
              <a:t> </a:t>
            </a:r>
            <a:r>
              <a:rPr sz="2350" dirty="0"/>
              <a:t>possible</a:t>
            </a:r>
            <a:r>
              <a:rPr sz="2350" spc="150" dirty="0"/>
              <a:t> </a:t>
            </a:r>
            <a:r>
              <a:rPr sz="2350" spc="-10" dirty="0"/>
              <a:t>subtypes</a:t>
            </a:r>
            <a:endParaRPr sz="2350"/>
          </a:p>
          <a:p>
            <a:pPr marL="752475" marR="5080" lvl="1" indent="-282575" algn="just">
              <a:lnSpc>
                <a:spcPct val="102200"/>
              </a:lnSpc>
              <a:spcBef>
                <a:spcPts val="580"/>
              </a:spcBef>
              <a:buFont typeface="Arial MT"/>
              <a:buChar char="–"/>
              <a:tabLst>
                <a:tab pos="753745" algn="l"/>
              </a:tabLst>
            </a:pPr>
            <a:r>
              <a:rPr sz="2350" b="1" dirty="0">
                <a:latin typeface="Arial"/>
                <a:cs typeface="Arial"/>
              </a:rPr>
              <a:t>Overlapping</a:t>
            </a:r>
            <a:r>
              <a:rPr sz="2350" b="1" spc="125" dirty="0">
                <a:latin typeface="Arial"/>
                <a:cs typeface="Arial"/>
              </a:rPr>
              <a:t> </a:t>
            </a:r>
            <a:r>
              <a:rPr sz="2350" dirty="0">
                <a:latin typeface="Arial MT"/>
                <a:cs typeface="Arial MT"/>
              </a:rPr>
              <a:t>–</a:t>
            </a:r>
            <a:r>
              <a:rPr sz="2350" spc="-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20" dirty="0">
                <a:latin typeface="Arial MT"/>
                <a:cs typeface="Arial MT"/>
              </a:rPr>
              <a:t> </a:t>
            </a:r>
            <a:r>
              <a:rPr sz="2350" i="1" dirty="0">
                <a:latin typeface="Arial"/>
                <a:cs typeface="Arial"/>
              </a:rPr>
              <a:t>composite</a:t>
            </a:r>
            <a:r>
              <a:rPr sz="2350" i="1" spc="185" dirty="0">
                <a:latin typeface="Arial"/>
                <a:cs typeface="Arial"/>
              </a:rPr>
              <a:t> </a:t>
            </a:r>
            <a:r>
              <a:rPr sz="2350" dirty="0">
                <a:latin typeface="Arial MT"/>
                <a:cs typeface="Arial MT"/>
              </a:rPr>
              <a:t>attribute</a:t>
            </a:r>
            <a:r>
              <a:rPr sz="2350" spc="18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whose</a:t>
            </a:r>
            <a:r>
              <a:rPr sz="2350" spc="17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subparts 	</a:t>
            </a:r>
            <a:r>
              <a:rPr sz="2350" dirty="0">
                <a:latin typeface="Arial MT"/>
                <a:cs typeface="Arial MT"/>
              </a:rPr>
              <a:t>pertain</a:t>
            </a:r>
            <a:r>
              <a:rPr sz="2350" spc="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different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subtypes.</a:t>
            </a:r>
            <a:r>
              <a:rPr sz="2350" spc="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Each</a:t>
            </a:r>
            <a:r>
              <a:rPr sz="2350" spc="-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subpart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contains</a:t>
            </a:r>
            <a:r>
              <a:rPr sz="2350" spc="145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a 	</a:t>
            </a:r>
            <a:r>
              <a:rPr sz="2350" dirty="0">
                <a:latin typeface="Arial MT"/>
                <a:cs typeface="Arial MT"/>
              </a:rPr>
              <a:t>boolean</a:t>
            </a:r>
            <a:r>
              <a:rPr sz="2350" spc="1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value</a:t>
            </a:r>
            <a:r>
              <a:rPr sz="2350" spc="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indicate</a:t>
            </a:r>
            <a:r>
              <a:rPr sz="2350" spc="114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whether</a:t>
            </a:r>
            <a:r>
              <a:rPr sz="2350" spc="19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or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not</a:t>
            </a:r>
            <a:r>
              <a:rPr sz="2350" spc="5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instance 	</a:t>
            </a:r>
            <a:r>
              <a:rPr sz="2350" dirty="0">
                <a:latin typeface="Arial MT"/>
                <a:cs typeface="Arial MT"/>
              </a:rPr>
              <a:t>belongs</a:t>
            </a:r>
            <a:r>
              <a:rPr sz="2350" spc="2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associated</a:t>
            </a:r>
            <a:r>
              <a:rPr sz="2350" spc="22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subtype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840605" algn="l"/>
              </a:tabLst>
            </a:pPr>
            <a:r>
              <a:rPr dirty="0"/>
              <a:t>Introducing</a:t>
            </a:r>
            <a:r>
              <a:rPr spc="19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subtype</a:t>
            </a:r>
            <a:r>
              <a:rPr spc="145" dirty="0"/>
              <a:t> </a:t>
            </a:r>
            <a:r>
              <a:rPr spc="-10" dirty="0"/>
              <a:t>discriminator</a:t>
            </a:r>
            <a:r>
              <a:rPr dirty="0"/>
              <a:t>	(</a:t>
            </a:r>
            <a:r>
              <a:rPr sz="2800" b="1" i="1" dirty="0">
                <a:latin typeface="Arial"/>
                <a:cs typeface="Arial"/>
              </a:rPr>
              <a:t>disjoint</a:t>
            </a:r>
            <a:r>
              <a:rPr sz="2800" b="1" i="1" spc="-250" dirty="0">
                <a:latin typeface="Arial"/>
                <a:cs typeface="Arial"/>
              </a:rPr>
              <a:t> </a:t>
            </a:r>
            <a:r>
              <a:rPr spc="-10" dirty="0"/>
              <a:t>rule)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7290" y="1700974"/>
            <a:ext cx="224282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1800" spc="-11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simple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attribute</a:t>
            </a:r>
            <a:r>
              <a:rPr sz="1800" spc="-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with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different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possible</a:t>
            </a:r>
            <a:r>
              <a:rPr sz="1800" spc="-8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values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indicating</a:t>
            </a:r>
            <a:r>
              <a:rPr sz="1800" spc="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1800" spc="-7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subtype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17820" y="2130932"/>
            <a:ext cx="1831975" cy="918844"/>
          </a:xfrm>
          <a:custGeom>
            <a:avLst/>
            <a:gdLst/>
            <a:ahLst/>
            <a:cxnLst/>
            <a:rect l="l" t="t" r="r" b="b"/>
            <a:pathLst>
              <a:path w="1831975" h="918844">
                <a:moveTo>
                  <a:pt x="687705" y="8382"/>
                </a:moveTo>
                <a:lnTo>
                  <a:pt x="683895" y="0"/>
                </a:lnTo>
                <a:lnTo>
                  <a:pt x="113766" y="258546"/>
                </a:lnTo>
                <a:lnTo>
                  <a:pt x="89408" y="204851"/>
                </a:lnTo>
                <a:lnTo>
                  <a:pt x="0" y="315087"/>
                </a:lnTo>
                <a:lnTo>
                  <a:pt x="141859" y="320421"/>
                </a:lnTo>
                <a:lnTo>
                  <a:pt x="119888" y="272034"/>
                </a:lnTo>
                <a:lnTo>
                  <a:pt x="117525" y="266827"/>
                </a:lnTo>
                <a:lnTo>
                  <a:pt x="687705" y="8382"/>
                </a:lnTo>
                <a:close/>
              </a:path>
              <a:path w="1831975" h="918844">
                <a:moveTo>
                  <a:pt x="1831594" y="465074"/>
                </a:moveTo>
                <a:lnTo>
                  <a:pt x="1826006" y="457708"/>
                </a:lnTo>
                <a:lnTo>
                  <a:pt x="1315173" y="839025"/>
                </a:lnTo>
                <a:lnTo>
                  <a:pt x="1279906" y="791718"/>
                </a:lnTo>
                <a:lnTo>
                  <a:pt x="1216152" y="918591"/>
                </a:lnTo>
                <a:lnTo>
                  <a:pt x="1355852" y="893572"/>
                </a:lnTo>
                <a:lnTo>
                  <a:pt x="1326299" y="853948"/>
                </a:lnTo>
                <a:lnTo>
                  <a:pt x="1320660" y="846378"/>
                </a:lnTo>
                <a:lnTo>
                  <a:pt x="1831594" y="465074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524000"/>
            <a:ext cx="9143574" cy="4989870"/>
            <a:chOff x="612648" y="612648"/>
            <a:chExt cx="8147304" cy="5257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612648"/>
              <a:ext cx="8147304" cy="52578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63524" y="2903220"/>
              <a:ext cx="4956175" cy="1289685"/>
            </a:xfrm>
            <a:custGeom>
              <a:avLst/>
              <a:gdLst/>
              <a:ahLst/>
              <a:cxnLst/>
              <a:rect l="l" t="t" r="r" b="b"/>
              <a:pathLst>
                <a:path w="4956175" h="1289685">
                  <a:moveTo>
                    <a:pt x="0" y="1289303"/>
                  </a:moveTo>
                  <a:lnTo>
                    <a:pt x="4956048" y="1289303"/>
                  </a:lnTo>
                  <a:lnTo>
                    <a:pt x="4956048" y="0"/>
                  </a:lnTo>
                  <a:lnTo>
                    <a:pt x="0" y="0"/>
                  </a:lnTo>
                  <a:lnTo>
                    <a:pt x="0" y="1289303"/>
                  </a:lnTo>
                  <a:close/>
                </a:path>
              </a:pathLst>
            </a:custGeom>
            <a:ln w="27432">
              <a:solidFill>
                <a:srgbClr val="99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28191" y="100520"/>
            <a:ext cx="50869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28950" algn="l"/>
              </a:tabLst>
            </a:pPr>
            <a:r>
              <a:rPr dirty="0"/>
              <a:t>Subtype</a:t>
            </a:r>
            <a:r>
              <a:rPr spc="145" dirty="0"/>
              <a:t> </a:t>
            </a:r>
            <a:r>
              <a:rPr spc="-10" dirty="0"/>
              <a:t>discriminator</a:t>
            </a:r>
            <a:r>
              <a:rPr dirty="0"/>
              <a:t>	(</a:t>
            </a:r>
            <a:r>
              <a:rPr sz="2800" b="1" i="1" dirty="0">
                <a:latin typeface="Arial"/>
                <a:cs typeface="Arial"/>
              </a:rPr>
              <a:t>overlap</a:t>
            </a:r>
            <a:r>
              <a:rPr sz="2800" b="1" i="1" spc="-114" dirty="0">
                <a:latin typeface="Arial"/>
                <a:cs typeface="Arial"/>
              </a:rPr>
              <a:t> </a:t>
            </a:r>
            <a:r>
              <a:rPr spc="-10" dirty="0"/>
              <a:t>rule)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6800" y="1604955"/>
            <a:ext cx="1738376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1800" spc="-9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composite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attribute</a:t>
            </a:r>
            <a:r>
              <a:rPr sz="18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with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sub-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attributes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indicating</a:t>
            </a:r>
            <a:r>
              <a:rPr sz="18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990000"/>
                </a:solidFill>
                <a:latin typeface="Times New Roman"/>
                <a:cs typeface="Times New Roman"/>
              </a:rPr>
              <a:t>“yes”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or</a:t>
            </a:r>
            <a:r>
              <a:rPr sz="1800" spc="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“no”</a:t>
            </a:r>
            <a:r>
              <a:rPr sz="18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990000"/>
                </a:solidFill>
                <a:latin typeface="Times New Roman"/>
                <a:cs typeface="Times New Roman"/>
              </a:rPr>
              <a:t>to 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determine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whether</a:t>
            </a:r>
            <a:r>
              <a:rPr sz="1800" spc="-7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it</a:t>
            </a:r>
            <a:r>
              <a:rPr sz="1800" spc="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1800" spc="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990000"/>
                </a:solidFill>
                <a:latin typeface="Times New Roman"/>
                <a:cs typeface="Times New Roman"/>
              </a:rPr>
              <a:t>of </a:t>
            </a:r>
            <a:r>
              <a:rPr sz="1800" dirty="0">
                <a:solidFill>
                  <a:srgbClr val="990000"/>
                </a:solidFill>
                <a:latin typeface="Times New Roman"/>
                <a:cs typeface="Times New Roman"/>
              </a:rPr>
              <a:t>each</a:t>
            </a:r>
            <a:r>
              <a:rPr sz="1800" spc="-10" dirty="0">
                <a:solidFill>
                  <a:srgbClr val="990000"/>
                </a:solidFill>
                <a:latin typeface="Times New Roman"/>
                <a:cs typeface="Times New Roman"/>
              </a:rPr>
              <a:t> subtype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700" rIns="0" bIns="0" rtlCol="0">
            <a:spAutoFit/>
          </a:bodyPr>
          <a:lstStyle/>
          <a:p>
            <a:pPr marL="574675">
              <a:lnSpc>
                <a:spcPct val="100000"/>
              </a:lnSpc>
              <a:spcBef>
                <a:spcPts val="125"/>
              </a:spcBef>
            </a:pPr>
            <a:r>
              <a:rPr dirty="0"/>
              <a:t>Example</a:t>
            </a:r>
            <a:r>
              <a:rPr spc="17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supertype/subtype</a:t>
            </a:r>
            <a:r>
              <a:rPr spc="180" dirty="0"/>
              <a:t> </a:t>
            </a:r>
            <a:r>
              <a:rPr spc="-10" dirty="0"/>
              <a:t>hierarchy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260" y="1518411"/>
            <a:ext cx="8378939" cy="51317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0"/>
              </a:lnSpc>
            </a:pPr>
            <a:fld id="{81D60167-4931-47E6-BA6A-407CBD079E47}" type="slidenum">
              <a:rPr spc="-25" dirty="0"/>
              <a:pPr marL="12700">
                <a:lnSpc>
                  <a:spcPts val="1610"/>
                </a:lnSpc>
              </a:pPr>
              <a:t>24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6097</TotalTime>
  <Words>699</Words>
  <Application>Microsoft Office PowerPoint</Application>
  <PresentationFormat>On-screen Show (4:3)</PresentationFormat>
  <Paragraphs>97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MT</vt:lpstr>
      <vt:lpstr>Tahoma</vt:lpstr>
      <vt:lpstr>Times New Roman</vt:lpstr>
      <vt:lpstr>Office Theme</vt:lpstr>
      <vt:lpstr>Database Management Systems</vt:lpstr>
      <vt:lpstr>Supertypes and Subtypes</vt:lpstr>
      <vt:lpstr>PowerPoint Presentation</vt:lpstr>
      <vt:lpstr>PowerPoint Presentation</vt:lpstr>
      <vt:lpstr>Basic notation for supertype/subtype notation</vt:lpstr>
      <vt:lpstr>Basic notation for supertype/subtype notation (cont.)</vt:lpstr>
      <vt:lpstr>Employee supertype with three subtypes</vt:lpstr>
      <vt:lpstr>Relationships and Subtypes</vt:lpstr>
      <vt:lpstr>Supertype/subtype relationships in a hospital</vt:lpstr>
      <vt:lpstr>Generalization and Specialization</vt:lpstr>
      <vt:lpstr>PowerPoint Presentation</vt:lpstr>
      <vt:lpstr>PowerPoint Presentation</vt:lpstr>
      <vt:lpstr>Example of specialization</vt:lpstr>
      <vt:lpstr>Example of specialization (cont.)</vt:lpstr>
      <vt:lpstr>Constraints in Supertype/ Completeness Constraint</vt:lpstr>
      <vt:lpstr>Examples of completeness constraints</vt:lpstr>
      <vt:lpstr>Examples of completeness constraints (cont.)</vt:lpstr>
      <vt:lpstr>Constraints in Supertype/ Disjointness constraint</vt:lpstr>
      <vt:lpstr>Examples of disjointness constraints</vt:lpstr>
      <vt:lpstr>Examples of disjointness constraints (cont.)</vt:lpstr>
      <vt:lpstr>Constraints in Supertype/ Subtype Discriminators</vt:lpstr>
      <vt:lpstr>Introducing a subtype discriminator (disjoint rule)</vt:lpstr>
      <vt:lpstr>Subtype discriminator (overlap rule)</vt:lpstr>
      <vt:lpstr>Example of supertype/subtype hierarchy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</dc:title>
  <dc:creator>user</dc:creator>
  <cp:lastModifiedBy>01-135241-045</cp:lastModifiedBy>
  <cp:revision>12</cp:revision>
  <dcterms:created xsi:type="dcterms:W3CDTF">2025-02-13T08:35:09Z</dcterms:created>
  <dcterms:modified xsi:type="dcterms:W3CDTF">2026-03-15T11:14:39Z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2019-03-21T00:00:00Z</vt:filetime>
  </property>
</Properties>
</file>