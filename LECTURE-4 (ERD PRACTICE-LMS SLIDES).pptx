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3" r:id="rId2"/>
    <p:sldId id="284" r:id="rId3"/>
    <p:sldId id="285" r:id="rId4"/>
    <p:sldId id="286" r:id="rId5"/>
    <p:sldId id="287" r:id="rId6"/>
    <p:sldId id="347" r:id="rId7"/>
    <p:sldId id="364" r:id="rId8"/>
    <p:sldId id="357" r:id="rId9"/>
    <p:sldId id="360" r:id="rId10"/>
    <p:sldId id="365" r:id="rId11"/>
    <p:sldId id="386" r:id="rId12"/>
    <p:sldId id="387" r:id="rId13"/>
    <p:sldId id="463" r:id="rId14"/>
    <p:sldId id="289" r:id="rId15"/>
    <p:sldId id="322" r:id="rId16"/>
    <p:sldId id="464" r:id="rId17"/>
    <p:sldId id="465" r:id="rId18"/>
    <p:sldId id="320" r:id="rId19"/>
    <p:sldId id="466" r:id="rId20"/>
    <p:sldId id="467" r:id="rId21"/>
    <p:sldId id="468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D2BF92-DA1E-4608-92CF-A2558338666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4D044-2648-4EFE-8527-6FC04B6E6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13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704" y="39370"/>
            <a:ext cx="8051037" cy="1479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5175" y="1607355"/>
            <a:ext cx="7606665" cy="3600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9006" y="6303050"/>
            <a:ext cx="290829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8430">
              <a:lnSpc>
                <a:spcPts val="16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0915" marR="5080" indent="-622935">
              <a:lnSpc>
                <a:spcPct val="101000"/>
              </a:lnSpc>
              <a:spcBef>
                <a:spcPts val="45"/>
              </a:spcBef>
            </a:pPr>
            <a:r>
              <a:rPr sz="4400" dirty="0">
                <a:latin typeface="Arial MT"/>
                <a:cs typeface="Arial MT"/>
              </a:rPr>
              <a:t>Strong</a:t>
            </a:r>
            <a:r>
              <a:rPr sz="4400" spc="-2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vs.</a:t>
            </a:r>
            <a:r>
              <a:rPr sz="4400" spc="-105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Weak</a:t>
            </a:r>
            <a:r>
              <a:rPr sz="4400" spc="-125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Entities,</a:t>
            </a:r>
            <a:r>
              <a:rPr sz="4400" spc="-170" dirty="0">
                <a:latin typeface="Arial MT"/>
                <a:cs typeface="Arial MT"/>
              </a:rPr>
              <a:t> </a:t>
            </a:r>
            <a:r>
              <a:rPr sz="4400" spc="-25" dirty="0">
                <a:latin typeface="Arial MT"/>
                <a:cs typeface="Arial MT"/>
              </a:rPr>
              <a:t>and </a:t>
            </a:r>
            <a:r>
              <a:rPr sz="4400" dirty="0">
                <a:latin typeface="Arial MT"/>
                <a:cs typeface="Arial MT"/>
              </a:rPr>
              <a:t>Identifying</a:t>
            </a:r>
            <a:r>
              <a:rPr sz="4400" spc="-185" dirty="0">
                <a:latin typeface="Arial MT"/>
                <a:cs typeface="Arial MT"/>
              </a:rPr>
              <a:t> </a:t>
            </a:r>
            <a:r>
              <a:rPr sz="4400" spc="-10" dirty="0">
                <a:latin typeface="Arial MT"/>
                <a:cs typeface="Arial MT"/>
              </a:rPr>
              <a:t>Relationships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3959" y="1577240"/>
            <a:ext cx="8421370" cy="41967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415"/>
              </a:spcBef>
              <a:buChar char="•"/>
              <a:tabLst>
                <a:tab pos="360045" algn="l"/>
              </a:tabLst>
            </a:pPr>
            <a:r>
              <a:rPr sz="2350" dirty="0">
                <a:latin typeface="Arial MT"/>
                <a:cs typeface="Arial MT"/>
              </a:rPr>
              <a:t>Strong</a:t>
            </a:r>
            <a:r>
              <a:rPr sz="2350" spc="5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entities</a:t>
            </a:r>
            <a:endParaRPr sz="235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65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exist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independently</a:t>
            </a:r>
            <a:r>
              <a:rPr sz="2000" spc="-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entities</a:t>
            </a:r>
            <a:endParaRPr sz="200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70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own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1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identifier</a:t>
            </a:r>
            <a:endParaRPr sz="200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65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identifier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underlined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single-</a:t>
            </a:r>
            <a:r>
              <a:rPr sz="2000" spc="-20" dirty="0">
                <a:latin typeface="Arial MT"/>
                <a:cs typeface="Arial MT"/>
              </a:rPr>
              <a:t>line</a:t>
            </a:r>
            <a:endParaRPr sz="2000">
              <a:latin typeface="Arial MT"/>
              <a:cs typeface="Arial MT"/>
            </a:endParaRPr>
          </a:p>
          <a:p>
            <a:pPr marL="360045" indent="-347345">
              <a:lnSpc>
                <a:spcPct val="100000"/>
              </a:lnSpc>
              <a:spcBef>
                <a:spcPts val="280"/>
              </a:spcBef>
              <a:buChar char="•"/>
              <a:tabLst>
                <a:tab pos="360045" algn="l"/>
              </a:tabLst>
            </a:pPr>
            <a:r>
              <a:rPr sz="2350" dirty="0">
                <a:latin typeface="Arial MT"/>
                <a:cs typeface="Arial MT"/>
              </a:rPr>
              <a:t>Weak</a:t>
            </a:r>
            <a:r>
              <a:rPr sz="2350" spc="5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entity</a:t>
            </a:r>
            <a:endParaRPr sz="2350">
              <a:latin typeface="Arial MT"/>
              <a:cs typeface="Arial MT"/>
            </a:endParaRPr>
          </a:p>
          <a:p>
            <a:pPr marL="753745" lvl="1" indent="-283845">
              <a:lnSpc>
                <a:spcPts val="2280"/>
              </a:lnSpc>
              <a:spcBef>
                <a:spcPts val="270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dependent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strong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entity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(identifying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owner)…cannot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its</a:t>
            </a:r>
            <a:endParaRPr sz="2000">
              <a:latin typeface="Arial MT"/>
              <a:cs typeface="Arial MT"/>
            </a:endParaRPr>
          </a:p>
          <a:p>
            <a:pPr marL="753745">
              <a:lnSpc>
                <a:spcPts val="2280"/>
              </a:lnSpc>
            </a:pPr>
            <a:r>
              <a:rPr sz="2000" spc="-25" dirty="0">
                <a:latin typeface="Arial MT"/>
                <a:cs typeface="Arial MT"/>
              </a:rPr>
              <a:t>own</a:t>
            </a:r>
            <a:endParaRPr sz="200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70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identifier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(only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identifier)</a:t>
            </a:r>
            <a:endParaRPr sz="200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65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Partial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identifier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underlined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double-</a:t>
            </a:r>
            <a:r>
              <a:rPr sz="2000" spc="-20" dirty="0">
                <a:latin typeface="Arial MT"/>
                <a:cs typeface="Arial MT"/>
              </a:rPr>
              <a:t>line</a:t>
            </a:r>
            <a:endParaRPr sz="200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00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Entity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box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double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line</a:t>
            </a:r>
            <a:endParaRPr sz="2000">
              <a:latin typeface="Arial MT"/>
              <a:cs typeface="Arial MT"/>
            </a:endParaRPr>
          </a:p>
          <a:p>
            <a:pPr marL="360045" indent="-347345">
              <a:lnSpc>
                <a:spcPct val="100000"/>
              </a:lnSpc>
              <a:spcBef>
                <a:spcPts val="345"/>
              </a:spcBef>
              <a:buChar char="•"/>
              <a:tabLst>
                <a:tab pos="360045" algn="l"/>
              </a:tabLst>
            </a:pPr>
            <a:r>
              <a:rPr sz="2350" dirty="0">
                <a:latin typeface="Arial MT"/>
                <a:cs typeface="Arial MT"/>
              </a:rPr>
              <a:t>Identifying</a:t>
            </a:r>
            <a:r>
              <a:rPr sz="2350" spc="9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relationship</a:t>
            </a:r>
            <a:endParaRPr sz="235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275"/>
              </a:spcBef>
              <a:buChar char="–"/>
              <a:tabLst>
                <a:tab pos="753745" algn="l"/>
              </a:tabLst>
            </a:pPr>
            <a:r>
              <a:rPr sz="2000" dirty="0">
                <a:latin typeface="Arial MT"/>
                <a:cs typeface="Arial MT"/>
              </a:rPr>
              <a:t>links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strong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entities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weak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entities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25" rIns="0" bIns="0" rtlCol="0">
            <a:spAutoFit/>
          </a:bodyPr>
          <a:lstStyle/>
          <a:p>
            <a:pPr marL="1847214" marR="5080" indent="154940">
              <a:lnSpc>
                <a:spcPts val="3320"/>
              </a:lnSpc>
              <a:spcBef>
                <a:spcPts val="250"/>
              </a:spcBef>
            </a:pPr>
            <a:r>
              <a:rPr sz="2800" b="1" dirty="0">
                <a:latin typeface="Arial"/>
                <a:cs typeface="Arial"/>
              </a:rPr>
              <a:t>SUMMARY</a:t>
            </a:r>
            <a:r>
              <a:rPr sz="2800" b="1" spc="-1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ER-DIAGRAM </a:t>
            </a:r>
            <a:r>
              <a:rPr sz="2800" b="1" spc="-55" dirty="0">
                <a:latin typeface="Arial"/>
                <a:cs typeface="Arial"/>
              </a:rPr>
              <a:t>NOTATION</a:t>
            </a:r>
            <a:r>
              <a:rPr sz="2800" b="1" spc="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FOR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ER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SCHEMAS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3615" y="1821116"/>
            <a:ext cx="59690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Meaning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3615" y="2242692"/>
            <a:ext cx="2571115" cy="35820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20" dirty="0">
                <a:latin typeface="Arial MT"/>
                <a:cs typeface="Arial MT"/>
              </a:rPr>
              <a:t>ENTITY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TYPE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WEAK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ENTITY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TYPE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Arial MT"/>
                <a:cs typeface="Arial MT"/>
              </a:rPr>
              <a:t>RELATIONSHIP</a:t>
            </a:r>
            <a:r>
              <a:rPr sz="1200" spc="15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TYPE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230300"/>
              </a:lnSpc>
            </a:pPr>
            <a:r>
              <a:rPr sz="1200" spc="-10" dirty="0">
                <a:latin typeface="Arial MT"/>
                <a:cs typeface="Arial MT"/>
              </a:rPr>
              <a:t>IDENTIFYING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RELATIONSHIP</a:t>
            </a:r>
            <a:r>
              <a:rPr sz="1200" spc="14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TYPE </a:t>
            </a:r>
            <a:r>
              <a:rPr sz="1200" spc="-10" dirty="0">
                <a:latin typeface="Arial MT"/>
                <a:cs typeface="Arial MT"/>
              </a:rPr>
              <a:t>ATTRIBUTE</a:t>
            </a:r>
            <a:endParaRPr sz="1200">
              <a:latin typeface="Arial MT"/>
              <a:cs typeface="Arial MT"/>
            </a:endParaRPr>
          </a:p>
          <a:p>
            <a:pPr marL="12700" marR="681990">
              <a:lnSpc>
                <a:spcPct val="230300"/>
              </a:lnSpc>
            </a:pPr>
            <a:r>
              <a:rPr sz="1200" dirty="0">
                <a:latin typeface="Arial MT"/>
                <a:cs typeface="Arial MT"/>
              </a:rPr>
              <a:t>KEY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ATTRIBUTE </a:t>
            </a:r>
            <a:r>
              <a:rPr sz="1200" spc="-35" dirty="0">
                <a:latin typeface="Arial MT"/>
                <a:cs typeface="Arial MT"/>
              </a:rPr>
              <a:t>MULTIVALUED</a:t>
            </a:r>
            <a:r>
              <a:rPr sz="1200" spc="9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ATTRIBUTE </a:t>
            </a:r>
            <a:r>
              <a:rPr sz="1200" spc="-20" dirty="0">
                <a:latin typeface="Arial MT"/>
                <a:cs typeface="Arial MT"/>
              </a:rPr>
              <a:t>COMPOSITE</a:t>
            </a:r>
            <a:r>
              <a:rPr sz="1200" spc="7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ATTRIBUTE </a:t>
            </a:r>
            <a:r>
              <a:rPr sz="1200" dirty="0">
                <a:latin typeface="Arial MT"/>
                <a:cs typeface="Arial MT"/>
              </a:rPr>
              <a:t>DERIVED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ATTRIBUTE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0636" y="1826831"/>
            <a:ext cx="4984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u="sng" spc="-10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Times New Roman"/>
                <a:cs typeface="Times New Roman"/>
              </a:rPr>
              <a:t>Symbol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28900" y="2189988"/>
            <a:ext cx="896619" cy="311150"/>
          </a:xfrm>
          <a:custGeom>
            <a:avLst/>
            <a:gdLst/>
            <a:ahLst/>
            <a:cxnLst/>
            <a:rect l="l" t="t" r="r" b="b"/>
            <a:pathLst>
              <a:path w="896620" h="311150">
                <a:moveTo>
                  <a:pt x="0" y="310896"/>
                </a:moveTo>
                <a:lnTo>
                  <a:pt x="896112" y="310896"/>
                </a:lnTo>
                <a:lnTo>
                  <a:pt x="896112" y="0"/>
                </a:lnTo>
                <a:lnTo>
                  <a:pt x="0" y="0"/>
                </a:lnTo>
                <a:lnTo>
                  <a:pt x="0" y="310896"/>
                </a:lnTo>
                <a:close/>
              </a:path>
            </a:pathLst>
          </a:custGeom>
          <a:ln w="9153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3179" y="2619755"/>
            <a:ext cx="988060" cy="402590"/>
          </a:xfrm>
          <a:custGeom>
            <a:avLst/>
            <a:gdLst/>
            <a:ahLst/>
            <a:cxnLst/>
            <a:rect l="l" t="t" r="r" b="b"/>
            <a:pathLst>
              <a:path w="988060" h="402589">
                <a:moveTo>
                  <a:pt x="36575" y="356616"/>
                </a:moveTo>
                <a:lnTo>
                  <a:pt x="950975" y="356616"/>
                </a:lnTo>
                <a:lnTo>
                  <a:pt x="950975" y="36576"/>
                </a:lnTo>
                <a:lnTo>
                  <a:pt x="36575" y="36576"/>
                </a:lnTo>
                <a:lnTo>
                  <a:pt x="36575" y="356616"/>
                </a:lnTo>
                <a:close/>
              </a:path>
              <a:path w="988060" h="402589">
                <a:moveTo>
                  <a:pt x="0" y="402336"/>
                </a:moveTo>
                <a:lnTo>
                  <a:pt x="987552" y="402336"/>
                </a:lnTo>
                <a:lnTo>
                  <a:pt x="987552" y="0"/>
                </a:lnTo>
                <a:lnTo>
                  <a:pt x="0" y="0"/>
                </a:lnTo>
                <a:lnTo>
                  <a:pt x="0" y="402336"/>
                </a:lnTo>
                <a:close/>
              </a:path>
            </a:pathLst>
          </a:custGeom>
          <a:ln w="9153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92729" y="3084322"/>
            <a:ext cx="453390" cy="844550"/>
          </a:xfrm>
          <a:custGeom>
            <a:avLst/>
            <a:gdLst/>
            <a:ahLst/>
            <a:cxnLst/>
            <a:rect l="l" t="t" r="r" b="b"/>
            <a:pathLst>
              <a:path w="453389" h="844550">
                <a:moveTo>
                  <a:pt x="227837" y="0"/>
                </a:moveTo>
                <a:lnTo>
                  <a:pt x="406272" y="180720"/>
                </a:lnTo>
                <a:lnTo>
                  <a:pt x="225551" y="359155"/>
                </a:lnTo>
                <a:lnTo>
                  <a:pt x="47117" y="178435"/>
                </a:lnTo>
                <a:lnTo>
                  <a:pt x="227837" y="0"/>
                </a:lnTo>
                <a:close/>
              </a:path>
              <a:path w="453389" h="844550">
                <a:moveTo>
                  <a:pt x="227964" y="446024"/>
                </a:moveTo>
                <a:lnTo>
                  <a:pt x="406272" y="626871"/>
                </a:lnTo>
                <a:lnTo>
                  <a:pt x="225551" y="805307"/>
                </a:lnTo>
                <a:lnTo>
                  <a:pt x="47117" y="624458"/>
                </a:lnTo>
                <a:lnTo>
                  <a:pt x="227964" y="446024"/>
                </a:lnTo>
                <a:close/>
              </a:path>
              <a:path w="453389" h="844550">
                <a:moveTo>
                  <a:pt x="228219" y="391032"/>
                </a:moveTo>
                <a:lnTo>
                  <a:pt x="453389" y="619251"/>
                </a:lnTo>
                <a:lnTo>
                  <a:pt x="225170" y="844422"/>
                </a:lnTo>
                <a:lnTo>
                  <a:pt x="0" y="616203"/>
                </a:lnTo>
                <a:lnTo>
                  <a:pt x="228219" y="391032"/>
                </a:lnTo>
                <a:close/>
              </a:path>
            </a:pathLst>
          </a:custGeom>
          <a:ln w="952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36292" y="4027932"/>
            <a:ext cx="1143000" cy="210820"/>
          </a:xfrm>
          <a:custGeom>
            <a:avLst/>
            <a:gdLst/>
            <a:ahLst/>
            <a:cxnLst/>
            <a:rect l="l" t="t" r="r" b="b"/>
            <a:pathLst>
              <a:path w="1143000" h="210820">
                <a:moveTo>
                  <a:pt x="393191" y="105156"/>
                </a:moveTo>
                <a:lnTo>
                  <a:pt x="416651" y="68478"/>
                </a:lnTo>
                <a:lnTo>
                  <a:pt x="481379" y="37420"/>
                </a:lnTo>
                <a:lnTo>
                  <a:pt x="526568" y="24743"/>
                </a:lnTo>
                <a:lnTo>
                  <a:pt x="578894" y="14365"/>
                </a:lnTo>
                <a:lnTo>
                  <a:pt x="637297" y="6583"/>
                </a:lnTo>
                <a:lnTo>
                  <a:pt x="700718" y="1695"/>
                </a:lnTo>
                <a:lnTo>
                  <a:pt x="768095" y="0"/>
                </a:lnTo>
                <a:lnTo>
                  <a:pt x="835473" y="1695"/>
                </a:lnTo>
                <a:lnTo>
                  <a:pt x="898894" y="6583"/>
                </a:lnTo>
                <a:lnTo>
                  <a:pt x="957297" y="14365"/>
                </a:lnTo>
                <a:lnTo>
                  <a:pt x="1009623" y="24743"/>
                </a:lnTo>
                <a:lnTo>
                  <a:pt x="1054812" y="37420"/>
                </a:lnTo>
                <a:lnTo>
                  <a:pt x="1091804" y="52098"/>
                </a:lnTo>
                <a:lnTo>
                  <a:pt x="1136958" y="86263"/>
                </a:lnTo>
                <a:lnTo>
                  <a:pt x="1142999" y="105156"/>
                </a:lnTo>
                <a:lnTo>
                  <a:pt x="1136958" y="124048"/>
                </a:lnTo>
                <a:lnTo>
                  <a:pt x="1091804" y="158213"/>
                </a:lnTo>
                <a:lnTo>
                  <a:pt x="1054812" y="172891"/>
                </a:lnTo>
                <a:lnTo>
                  <a:pt x="1009623" y="185568"/>
                </a:lnTo>
                <a:lnTo>
                  <a:pt x="957297" y="195946"/>
                </a:lnTo>
                <a:lnTo>
                  <a:pt x="898894" y="203728"/>
                </a:lnTo>
                <a:lnTo>
                  <a:pt x="835473" y="208616"/>
                </a:lnTo>
                <a:lnTo>
                  <a:pt x="768095" y="210312"/>
                </a:lnTo>
                <a:lnTo>
                  <a:pt x="700718" y="208616"/>
                </a:lnTo>
                <a:lnTo>
                  <a:pt x="637297" y="203728"/>
                </a:lnTo>
                <a:lnTo>
                  <a:pt x="578894" y="195946"/>
                </a:lnTo>
                <a:lnTo>
                  <a:pt x="526568" y="185568"/>
                </a:lnTo>
                <a:lnTo>
                  <a:pt x="481379" y="172891"/>
                </a:lnTo>
                <a:lnTo>
                  <a:pt x="444387" y="158213"/>
                </a:lnTo>
                <a:lnTo>
                  <a:pt x="399233" y="124048"/>
                </a:lnTo>
                <a:lnTo>
                  <a:pt x="393191" y="105156"/>
                </a:lnTo>
                <a:close/>
              </a:path>
              <a:path w="1143000" h="210820">
                <a:moveTo>
                  <a:pt x="393191" y="109728"/>
                </a:moveTo>
                <a:lnTo>
                  <a:pt x="0" y="109728"/>
                </a:lnTo>
              </a:path>
            </a:pathLst>
          </a:custGeom>
          <a:ln w="9153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36292" y="4402835"/>
            <a:ext cx="1143000" cy="219710"/>
          </a:xfrm>
          <a:custGeom>
            <a:avLst/>
            <a:gdLst/>
            <a:ahLst/>
            <a:cxnLst/>
            <a:rect l="l" t="t" r="r" b="b"/>
            <a:pathLst>
              <a:path w="1143000" h="219710">
                <a:moveTo>
                  <a:pt x="393191" y="109727"/>
                </a:moveTo>
                <a:lnTo>
                  <a:pt x="416651" y="71449"/>
                </a:lnTo>
                <a:lnTo>
                  <a:pt x="481379" y="39040"/>
                </a:lnTo>
                <a:lnTo>
                  <a:pt x="526568" y="25813"/>
                </a:lnTo>
                <a:lnTo>
                  <a:pt x="578894" y="14986"/>
                </a:lnTo>
                <a:lnTo>
                  <a:pt x="637297" y="6867"/>
                </a:lnTo>
                <a:lnTo>
                  <a:pt x="700718" y="1768"/>
                </a:lnTo>
                <a:lnTo>
                  <a:pt x="768095" y="0"/>
                </a:lnTo>
                <a:lnTo>
                  <a:pt x="835473" y="1768"/>
                </a:lnTo>
                <a:lnTo>
                  <a:pt x="898894" y="6867"/>
                </a:lnTo>
                <a:lnTo>
                  <a:pt x="957297" y="14986"/>
                </a:lnTo>
                <a:lnTo>
                  <a:pt x="1009623" y="25813"/>
                </a:lnTo>
                <a:lnTo>
                  <a:pt x="1054812" y="39040"/>
                </a:lnTo>
                <a:lnTo>
                  <a:pt x="1091804" y="54356"/>
                </a:lnTo>
                <a:lnTo>
                  <a:pt x="1136958" y="90010"/>
                </a:lnTo>
                <a:lnTo>
                  <a:pt x="1142999" y="109727"/>
                </a:lnTo>
                <a:lnTo>
                  <a:pt x="1136958" y="129445"/>
                </a:lnTo>
                <a:lnTo>
                  <a:pt x="1091804" y="165100"/>
                </a:lnTo>
                <a:lnTo>
                  <a:pt x="1054812" y="180415"/>
                </a:lnTo>
                <a:lnTo>
                  <a:pt x="1009623" y="193642"/>
                </a:lnTo>
                <a:lnTo>
                  <a:pt x="957297" y="204470"/>
                </a:lnTo>
                <a:lnTo>
                  <a:pt x="898894" y="212588"/>
                </a:lnTo>
                <a:lnTo>
                  <a:pt x="835473" y="217687"/>
                </a:lnTo>
                <a:lnTo>
                  <a:pt x="768095" y="219456"/>
                </a:lnTo>
                <a:lnTo>
                  <a:pt x="700718" y="217687"/>
                </a:lnTo>
                <a:lnTo>
                  <a:pt x="637297" y="212588"/>
                </a:lnTo>
                <a:lnTo>
                  <a:pt x="578894" y="204469"/>
                </a:lnTo>
                <a:lnTo>
                  <a:pt x="526568" y="193642"/>
                </a:lnTo>
                <a:lnTo>
                  <a:pt x="481379" y="180415"/>
                </a:lnTo>
                <a:lnTo>
                  <a:pt x="444387" y="165100"/>
                </a:lnTo>
                <a:lnTo>
                  <a:pt x="399233" y="129445"/>
                </a:lnTo>
                <a:lnTo>
                  <a:pt x="393191" y="109727"/>
                </a:lnTo>
                <a:close/>
              </a:path>
              <a:path w="1143000" h="219710">
                <a:moveTo>
                  <a:pt x="393191" y="109727"/>
                </a:moveTo>
                <a:lnTo>
                  <a:pt x="0" y="109727"/>
                </a:lnTo>
              </a:path>
              <a:path w="1143000" h="219710">
                <a:moveTo>
                  <a:pt x="548639" y="155447"/>
                </a:moveTo>
                <a:lnTo>
                  <a:pt x="978407" y="155447"/>
                </a:lnTo>
              </a:path>
            </a:pathLst>
          </a:custGeom>
          <a:ln w="9153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36292" y="4786884"/>
            <a:ext cx="1252855" cy="274320"/>
          </a:xfrm>
          <a:custGeom>
            <a:avLst/>
            <a:gdLst/>
            <a:ahLst/>
            <a:cxnLst/>
            <a:rect l="l" t="t" r="r" b="b"/>
            <a:pathLst>
              <a:path w="1252854" h="274320">
                <a:moveTo>
                  <a:pt x="393191" y="132588"/>
                </a:moveTo>
                <a:lnTo>
                  <a:pt x="416651" y="95910"/>
                </a:lnTo>
                <a:lnTo>
                  <a:pt x="481379" y="64852"/>
                </a:lnTo>
                <a:lnTo>
                  <a:pt x="526568" y="52175"/>
                </a:lnTo>
                <a:lnTo>
                  <a:pt x="578894" y="41797"/>
                </a:lnTo>
                <a:lnTo>
                  <a:pt x="637297" y="34015"/>
                </a:lnTo>
                <a:lnTo>
                  <a:pt x="700718" y="29127"/>
                </a:lnTo>
                <a:lnTo>
                  <a:pt x="768095" y="27432"/>
                </a:lnTo>
                <a:lnTo>
                  <a:pt x="835473" y="29127"/>
                </a:lnTo>
                <a:lnTo>
                  <a:pt x="898894" y="34015"/>
                </a:lnTo>
                <a:lnTo>
                  <a:pt x="957297" y="41797"/>
                </a:lnTo>
                <a:lnTo>
                  <a:pt x="1009623" y="52175"/>
                </a:lnTo>
                <a:lnTo>
                  <a:pt x="1054812" y="64852"/>
                </a:lnTo>
                <a:lnTo>
                  <a:pt x="1091804" y="79530"/>
                </a:lnTo>
                <a:lnTo>
                  <a:pt x="1136958" y="113695"/>
                </a:lnTo>
                <a:lnTo>
                  <a:pt x="1142999" y="132588"/>
                </a:lnTo>
                <a:lnTo>
                  <a:pt x="1136958" y="151480"/>
                </a:lnTo>
                <a:lnTo>
                  <a:pt x="1091804" y="185645"/>
                </a:lnTo>
                <a:lnTo>
                  <a:pt x="1054812" y="200323"/>
                </a:lnTo>
                <a:lnTo>
                  <a:pt x="1009623" y="213000"/>
                </a:lnTo>
                <a:lnTo>
                  <a:pt x="957297" y="223378"/>
                </a:lnTo>
                <a:lnTo>
                  <a:pt x="898894" y="231160"/>
                </a:lnTo>
                <a:lnTo>
                  <a:pt x="835473" y="236048"/>
                </a:lnTo>
                <a:lnTo>
                  <a:pt x="768095" y="237744"/>
                </a:lnTo>
                <a:lnTo>
                  <a:pt x="700718" y="236048"/>
                </a:lnTo>
                <a:lnTo>
                  <a:pt x="637297" y="231160"/>
                </a:lnTo>
                <a:lnTo>
                  <a:pt x="578894" y="223378"/>
                </a:lnTo>
                <a:lnTo>
                  <a:pt x="526568" y="213000"/>
                </a:lnTo>
                <a:lnTo>
                  <a:pt x="481379" y="200323"/>
                </a:lnTo>
                <a:lnTo>
                  <a:pt x="444387" y="185645"/>
                </a:lnTo>
                <a:lnTo>
                  <a:pt x="399233" y="151480"/>
                </a:lnTo>
                <a:lnTo>
                  <a:pt x="393191" y="132588"/>
                </a:lnTo>
                <a:close/>
              </a:path>
              <a:path w="1252854" h="274320">
                <a:moveTo>
                  <a:pt x="393191" y="137160"/>
                </a:moveTo>
                <a:lnTo>
                  <a:pt x="0" y="137160"/>
                </a:lnTo>
              </a:path>
              <a:path w="1252854" h="274320">
                <a:moveTo>
                  <a:pt x="292607" y="137160"/>
                </a:moveTo>
                <a:lnTo>
                  <a:pt x="312929" y="97568"/>
                </a:lnTo>
                <a:lnTo>
                  <a:pt x="369936" y="62501"/>
                </a:lnTo>
                <a:lnTo>
                  <a:pt x="410343" y="47197"/>
                </a:lnTo>
                <a:lnTo>
                  <a:pt x="457694" y="33663"/>
                </a:lnTo>
                <a:lnTo>
                  <a:pt x="511249" y="22112"/>
                </a:lnTo>
                <a:lnTo>
                  <a:pt x="570266" y="12757"/>
                </a:lnTo>
                <a:lnTo>
                  <a:pt x="634003" y="5812"/>
                </a:lnTo>
                <a:lnTo>
                  <a:pt x="701717" y="1488"/>
                </a:lnTo>
                <a:lnTo>
                  <a:pt x="772668" y="0"/>
                </a:lnTo>
                <a:lnTo>
                  <a:pt x="843618" y="1488"/>
                </a:lnTo>
                <a:lnTo>
                  <a:pt x="911332" y="5812"/>
                </a:lnTo>
                <a:lnTo>
                  <a:pt x="975069" y="12757"/>
                </a:lnTo>
                <a:lnTo>
                  <a:pt x="1034086" y="22112"/>
                </a:lnTo>
                <a:lnTo>
                  <a:pt x="1087641" y="33663"/>
                </a:lnTo>
                <a:lnTo>
                  <a:pt x="1134992" y="47197"/>
                </a:lnTo>
                <a:lnTo>
                  <a:pt x="1175399" y="62501"/>
                </a:lnTo>
                <a:lnTo>
                  <a:pt x="1232406" y="97568"/>
                </a:lnTo>
                <a:lnTo>
                  <a:pt x="1252728" y="137160"/>
                </a:lnTo>
                <a:lnTo>
                  <a:pt x="1247523" y="157415"/>
                </a:lnTo>
                <a:lnTo>
                  <a:pt x="1208117" y="194957"/>
                </a:lnTo>
                <a:lnTo>
                  <a:pt x="1134992" y="227122"/>
                </a:lnTo>
                <a:lnTo>
                  <a:pt x="1087641" y="240656"/>
                </a:lnTo>
                <a:lnTo>
                  <a:pt x="1034086" y="252207"/>
                </a:lnTo>
                <a:lnTo>
                  <a:pt x="975069" y="261562"/>
                </a:lnTo>
                <a:lnTo>
                  <a:pt x="911332" y="268507"/>
                </a:lnTo>
                <a:lnTo>
                  <a:pt x="843618" y="272831"/>
                </a:lnTo>
                <a:lnTo>
                  <a:pt x="772668" y="274320"/>
                </a:lnTo>
                <a:lnTo>
                  <a:pt x="701717" y="272831"/>
                </a:lnTo>
                <a:lnTo>
                  <a:pt x="634003" y="268507"/>
                </a:lnTo>
                <a:lnTo>
                  <a:pt x="570266" y="261562"/>
                </a:lnTo>
                <a:lnTo>
                  <a:pt x="511249" y="252207"/>
                </a:lnTo>
                <a:lnTo>
                  <a:pt x="457694" y="240656"/>
                </a:lnTo>
                <a:lnTo>
                  <a:pt x="410343" y="227122"/>
                </a:lnTo>
                <a:lnTo>
                  <a:pt x="369936" y="211818"/>
                </a:lnTo>
                <a:lnTo>
                  <a:pt x="312929" y="176751"/>
                </a:lnTo>
                <a:lnTo>
                  <a:pt x="292607" y="137160"/>
                </a:lnTo>
                <a:close/>
              </a:path>
            </a:pathLst>
          </a:custGeom>
          <a:ln w="9153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36292" y="5664708"/>
            <a:ext cx="1143000" cy="210820"/>
          </a:xfrm>
          <a:custGeom>
            <a:avLst/>
            <a:gdLst/>
            <a:ahLst/>
            <a:cxnLst/>
            <a:rect l="l" t="t" r="r" b="b"/>
            <a:pathLst>
              <a:path w="1143000" h="210820">
                <a:moveTo>
                  <a:pt x="393191" y="105155"/>
                </a:moveTo>
                <a:lnTo>
                  <a:pt x="416651" y="68463"/>
                </a:lnTo>
                <a:lnTo>
                  <a:pt x="481379" y="37404"/>
                </a:lnTo>
                <a:lnTo>
                  <a:pt x="526568" y="24731"/>
                </a:lnTo>
                <a:lnTo>
                  <a:pt x="578894" y="14356"/>
                </a:lnTo>
                <a:lnTo>
                  <a:pt x="637297" y="6578"/>
                </a:lnTo>
                <a:lnTo>
                  <a:pt x="700718" y="1694"/>
                </a:lnTo>
                <a:lnTo>
                  <a:pt x="768095" y="0"/>
                </a:lnTo>
                <a:lnTo>
                  <a:pt x="835473" y="1694"/>
                </a:lnTo>
                <a:lnTo>
                  <a:pt x="898894" y="6578"/>
                </a:lnTo>
                <a:lnTo>
                  <a:pt x="957297" y="14356"/>
                </a:lnTo>
                <a:lnTo>
                  <a:pt x="1009623" y="24731"/>
                </a:lnTo>
                <a:lnTo>
                  <a:pt x="1054812" y="37404"/>
                </a:lnTo>
                <a:lnTo>
                  <a:pt x="1091804" y="52081"/>
                </a:lnTo>
                <a:lnTo>
                  <a:pt x="1136958" y="86253"/>
                </a:lnTo>
                <a:lnTo>
                  <a:pt x="1142999" y="105155"/>
                </a:lnTo>
                <a:lnTo>
                  <a:pt x="1136958" y="124058"/>
                </a:lnTo>
                <a:lnTo>
                  <a:pt x="1091804" y="158230"/>
                </a:lnTo>
                <a:lnTo>
                  <a:pt x="1054812" y="172907"/>
                </a:lnTo>
                <a:lnTo>
                  <a:pt x="1009623" y="185580"/>
                </a:lnTo>
                <a:lnTo>
                  <a:pt x="957297" y="195955"/>
                </a:lnTo>
                <a:lnTo>
                  <a:pt x="898894" y="203733"/>
                </a:lnTo>
                <a:lnTo>
                  <a:pt x="835473" y="208617"/>
                </a:lnTo>
                <a:lnTo>
                  <a:pt x="768095" y="210311"/>
                </a:lnTo>
                <a:lnTo>
                  <a:pt x="700718" y="208617"/>
                </a:lnTo>
                <a:lnTo>
                  <a:pt x="637297" y="203733"/>
                </a:lnTo>
                <a:lnTo>
                  <a:pt x="578894" y="195955"/>
                </a:lnTo>
                <a:lnTo>
                  <a:pt x="526568" y="185580"/>
                </a:lnTo>
                <a:lnTo>
                  <a:pt x="481379" y="172907"/>
                </a:lnTo>
                <a:lnTo>
                  <a:pt x="444387" y="158230"/>
                </a:lnTo>
                <a:lnTo>
                  <a:pt x="399233" y="124058"/>
                </a:lnTo>
                <a:lnTo>
                  <a:pt x="393191" y="105155"/>
                </a:lnTo>
                <a:close/>
              </a:path>
              <a:path w="1143000" h="210820">
                <a:moveTo>
                  <a:pt x="393191" y="100583"/>
                </a:moveTo>
                <a:lnTo>
                  <a:pt x="0" y="100583"/>
                </a:lnTo>
              </a:path>
            </a:pathLst>
          </a:custGeom>
          <a:ln w="9153">
            <a:solidFill>
              <a:srgbClr val="80808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2551171" y="5166355"/>
            <a:ext cx="1006475" cy="356870"/>
            <a:chOff x="2551171" y="5166355"/>
            <a:chExt cx="1006475" cy="356870"/>
          </a:xfrm>
        </p:grpSpPr>
        <p:sp>
          <p:nvSpPr>
            <p:cNvPr id="14" name="object 14"/>
            <p:cNvSpPr/>
            <p:nvPr/>
          </p:nvSpPr>
          <p:spPr>
            <a:xfrm>
              <a:off x="2555747" y="5170932"/>
              <a:ext cx="996950" cy="347980"/>
            </a:xfrm>
            <a:custGeom>
              <a:avLst/>
              <a:gdLst/>
              <a:ahLst/>
              <a:cxnLst/>
              <a:rect l="l" t="t" r="r" b="b"/>
              <a:pathLst>
                <a:path w="996950" h="347979">
                  <a:moveTo>
                    <a:pt x="0" y="73152"/>
                  </a:moveTo>
                  <a:lnTo>
                    <a:pt x="9340" y="44684"/>
                  </a:lnTo>
                  <a:lnTo>
                    <a:pt x="34813" y="21431"/>
                  </a:lnTo>
                  <a:lnTo>
                    <a:pt x="72598" y="5750"/>
                  </a:lnTo>
                  <a:lnTo>
                    <a:pt x="118871" y="0"/>
                  </a:lnTo>
                  <a:lnTo>
                    <a:pt x="165145" y="5750"/>
                  </a:lnTo>
                  <a:lnTo>
                    <a:pt x="202930" y="21431"/>
                  </a:lnTo>
                  <a:lnTo>
                    <a:pt x="228403" y="44684"/>
                  </a:lnTo>
                  <a:lnTo>
                    <a:pt x="237744" y="73152"/>
                  </a:lnTo>
                  <a:lnTo>
                    <a:pt x="228403" y="101619"/>
                  </a:lnTo>
                  <a:lnTo>
                    <a:pt x="202930" y="124872"/>
                  </a:lnTo>
                  <a:lnTo>
                    <a:pt x="165145" y="140553"/>
                  </a:lnTo>
                  <a:lnTo>
                    <a:pt x="118871" y="146304"/>
                  </a:lnTo>
                  <a:lnTo>
                    <a:pt x="72598" y="140553"/>
                  </a:lnTo>
                  <a:lnTo>
                    <a:pt x="34813" y="124872"/>
                  </a:lnTo>
                  <a:lnTo>
                    <a:pt x="9340" y="101619"/>
                  </a:lnTo>
                  <a:lnTo>
                    <a:pt x="0" y="73152"/>
                  </a:lnTo>
                  <a:close/>
                </a:path>
                <a:path w="996950" h="347979">
                  <a:moveTo>
                    <a:pt x="329183" y="73152"/>
                  </a:moveTo>
                  <a:lnTo>
                    <a:pt x="338524" y="44684"/>
                  </a:lnTo>
                  <a:lnTo>
                    <a:pt x="363997" y="21431"/>
                  </a:lnTo>
                  <a:lnTo>
                    <a:pt x="401782" y="5750"/>
                  </a:lnTo>
                  <a:lnTo>
                    <a:pt x="448056" y="0"/>
                  </a:lnTo>
                  <a:lnTo>
                    <a:pt x="494329" y="5750"/>
                  </a:lnTo>
                  <a:lnTo>
                    <a:pt x="532114" y="21431"/>
                  </a:lnTo>
                  <a:lnTo>
                    <a:pt x="557587" y="44684"/>
                  </a:lnTo>
                  <a:lnTo>
                    <a:pt x="566927" y="73152"/>
                  </a:lnTo>
                  <a:lnTo>
                    <a:pt x="557587" y="101619"/>
                  </a:lnTo>
                  <a:lnTo>
                    <a:pt x="532114" y="124872"/>
                  </a:lnTo>
                  <a:lnTo>
                    <a:pt x="494329" y="140553"/>
                  </a:lnTo>
                  <a:lnTo>
                    <a:pt x="448056" y="146304"/>
                  </a:lnTo>
                  <a:lnTo>
                    <a:pt x="401782" y="140553"/>
                  </a:lnTo>
                  <a:lnTo>
                    <a:pt x="363997" y="124872"/>
                  </a:lnTo>
                  <a:lnTo>
                    <a:pt x="338524" y="101619"/>
                  </a:lnTo>
                  <a:lnTo>
                    <a:pt x="329183" y="73152"/>
                  </a:lnTo>
                  <a:close/>
                </a:path>
                <a:path w="996950" h="347979">
                  <a:moveTo>
                    <a:pt x="758951" y="73152"/>
                  </a:moveTo>
                  <a:lnTo>
                    <a:pt x="768292" y="44684"/>
                  </a:lnTo>
                  <a:lnTo>
                    <a:pt x="793765" y="21431"/>
                  </a:lnTo>
                  <a:lnTo>
                    <a:pt x="831550" y="5750"/>
                  </a:lnTo>
                  <a:lnTo>
                    <a:pt x="877824" y="0"/>
                  </a:lnTo>
                  <a:lnTo>
                    <a:pt x="924097" y="5750"/>
                  </a:lnTo>
                  <a:lnTo>
                    <a:pt x="961882" y="21431"/>
                  </a:lnTo>
                  <a:lnTo>
                    <a:pt x="987355" y="44684"/>
                  </a:lnTo>
                  <a:lnTo>
                    <a:pt x="996696" y="73152"/>
                  </a:lnTo>
                  <a:lnTo>
                    <a:pt x="987355" y="101619"/>
                  </a:lnTo>
                  <a:lnTo>
                    <a:pt x="961882" y="124872"/>
                  </a:lnTo>
                  <a:lnTo>
                    <a:pt x="924097" y="140553"/>
                  </a:lnTo>
                  <a:lnTo>
                    <a:pt x="877824" y="146304"/>
                  </a:lnTo>
                  <a:lnTo>
                    <a:pt x="831550" y="140553"/>
                  </a:lnTo>
                  <a:lnTo>
                    <a:pt x="793765" y="124872"/>
                  </a:lnTo>
                  <a:lnTo>
                    <a:pt x="768292" y="101619"/>
                  </a:lnTo>
                  <a:lnTo>
                    <a:pt x="758951" y="73152"/>
                  </a:lnTo>
                  <a:close/>
                </a:path>
                <a:path w="996950" h="347979">
                  <a:moveTo>
                    <a:pt x="429768" y="278892"/>
                  </a:moveTo>
                  <a:lnTo>
                    <a:pt x="439108" y="252210"/>
                  </a:lnTo>
                  <a:lnTo>
                    <a:pt x="464581" y="230409"/>
                  </a:lnTo>
                  <a:lnTo>
                    <a:pt x="502366" y="215705"/>
                  </a:lnTo>
                  <a:lnTo>
                    <a:pt x="548639" y="210312"/>
                  </a:lnTo>
                  <a:lnTo>
                    <a:pt x="594913" y="215705"/>
                  </a:lnTo>
                  <a:lnTo>
                    <a:pt x="632698" y="230409"/>
                  </a:lnTo>
                  <a:lnTo>
                    <a:pt x="658171" y="252210"/>
                  </a:lnTo>
                  <a:lnTo>
                    <a:pt x="667512" y="278892"/>
                  </a:lnTo>
                  <a:lnTo>
                    <a:pt x="658171" y="305573"/>
                  </a:lnTo>
                  <a:lnTo>
                    <a:pt x="632698" y="327374"/>
                  </a:lnTo>
                  <a:lnTo>
                    <a:pt x="594913" y="342078"/>
                  </a:lnTo>
                  <a:lnTo>
                    <a:pt x="548639" y="347472"/>
                  </a:lnTo>
                  <a:lnTo>
                    <a:pt x="502366" y="342078"/>
                  </a:lnTo>
                  <a:lnTo>
                    <a:pt x="464581" y="327374"/>
                  </a:lnTo>
                  <a:lnTo>
                    <a:pt x="439108" y="305573"/>
                  </a:lnTo>
                  <a:lnTo>
                    <a:pt x="429768" y="278892"/>
                  </a:lnTo>
                  <a:close/>
                </a:path>
                <a:path w="996950" h="347979">
                  <a:moveTo>
                    <a:pt x="438912" y="283464"/>
                  </a:moveTo>
                  <a:lnTo>
                    <a:pt x="219456" y="283464"/>
                  </a:lnTo>
                </a:path>
                <a:path w="996950" h="347979">
                  <a:moveTo>
                    <a:pt x="237744" y="91440"/>
                  </a:moveTo>
                  <a:lnTo>
                    <a:pt x="457200" y="237744"/>
                  </a:lnTo>
                </a:path>
                <a:path w="996950" h="347979">
                  <a:moveTo>
                    <a:pt x="438912" y="137160"/>
                  </a:moveTo>
                  <a:lnTo>
                    <a:pt x="502919" y="219456"/>
                  </a:lnTo>
                </a:path>
                <a:path w="996950" h="347979">
                  <a:moveTo>
                    <a:pt x="658368" y="246888"/>
                  </a:moveTo>
                  <a:lnTo>
                    <a:pt x="841248" y="146304"/>
                  </a:lnTo>
                </a:path>
              </a:pathLst>
            </a:custGeom>
            <a:ln w="915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50107" y="5244084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304" y="0"/>
                  </a:lnTo>
                </a:path>
              </a:pathLst>
            </a:custGeom>
            <a:ln w="9153">
              <a:solidFill>
                <a:srgbClr val="80808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394" y="4449508"/>
            <a:ext cx="158496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Strong</a:t>
            </a:r>
            <a:r>
              <a:rPr sz="2350" spc="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1070" y="4476686"/>
            <a:ext cx="145669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Weak</a:t>
            </a:r>
            <a:r>
              <a:rPr sz="2350" spc="-1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2133" rIns="0" bIns="0" rtlCol="0">
            <a:spAutoFit/>
          </a:bodyPr>
          <a:lstStyle/>
          <a:p>
            <a:pPr marL="2911475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990000"/>
                </a:solidFill>
                <a:latin typeface="Times New Roman"/>
                <a:cs typeface="Times New Roman"/>
              </a:rPr>
              <a:t>Identifying</a:t>
            </a:r>
            <a:r>
              <a:rPr spc="1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990000"/>
                </a:solidFill>
                <a:latin typeface="Times New Roman"/>
                <a:cs typeface="Times New Roman"/>
              </a:rPr>
              <a:t>relationship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2648" y="1673351"/>
            <a:ext cx="8074659" cy="2670175"/>
            <a:chOff x="612648" y="1673351"/>
            <a:chExt cx="8074659" cy="26701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1673351"/>
              <a:ext cx="8074152" cy="26700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13932" y="2034539"/>
              <a:ext cx="2039620" cy="1911350"/>
            </a:xfrm>
            <a:custGeom>
              <a:avLst/>
              <a:gdLst/>
              <a:ahLst/>
              <a:cxnLst/>
              <a:rect l="l" t="t" r="r" b="b"/>
              <a:pathLst>
                <a:path w="2039620" h="1911350">
                  <a:moveTo>
                    <a:pt x="0" y="1911095"/>
                  </a:moveTo>
                  <a:lnTo>
                    <a:pt x="2039112" y="1911095"/>
                  </a:lnTo>
                  <a:lnTo>
                    <a:pt x="2039112" y="0"/>
                  </a:lnTo>
                  <a:lnTo>
                    <a:pt x="0" y="0"/>
                  </a:lnTo>
                  <a:lnTo>
                    <a:pt x="0" y="1911095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86826" y="6303050"/>
            <a:ext cx="22669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r>
              <a:rPr sz="1350" spc="-25" dirty="0">
                <a:latin typeface="Arial MT"/>
                <a:cs typeface="Arial MT"/>
              </a:rPr>
              <a:t>30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389" rIns="0" bIns="0" rtlCol="0">
            <a:spAutoFit/>
          </a:bodyPr>
          <a:lstStyle/>
          <a:p>
            <a:pPr marL="1624965">
              <a:lnSpc>
                <a:spcPct val="100000"/>
              </a:lnSpc>
              <a:spcBef>
                <a:spcPts val="95"/>
              </a:spcBef>
            </a:pPr>
            <a:r>
              <a:rPr sz="4400" b="1" dirty="0">
                <a:latin typeface="Arial"/>
                <a:cs typeface="Arial"/>
              </a:rPr>
              <a:t>Associative</a:t>
            </a:r>
            <a:r>
              <a:rPr sz="4400" b="1" spc="-19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Entities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5175" y="1607355"/>
            <a:ext cx="7606665" cy="309443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509"/>
              </a:spcBef>
              <a:buChar char="•"/>
              <a:tabLst>
                <a:tab pos="360680" algn="l"/>
              </a:tabLst>
            </a:pPr>
            <a:r>
              <a:rPr dirty="0"/>
              <a:t>An</a:t>
            </a:r>
            <a:r>
              <a:rPr spc="-85" dirty="0"/>
              <a:t> </a:t>
            </a:r>
            <a:r>
              <a:rPr sz="3150" dirty="0"/>
              <a:t>entity</a:t>
            </a:r>
            <a:r>
              <a:rPr dirty="0"/>
              <a:t>–has</a:t>
            </a:r>
            <a:r>
              <a:rPr spc="85" dirty="0"/>
              <a:t> </a:t>
            </a:r>
            <a:r>
              <a:rPr spc="-10" dirty="0"/>
              <a:t>attributes</a:t>
            </a:r>
            <a:endParaRPr sz="3150" dirty="0"/>
          </a:p>
          <a:p>
            <a:pPr marL="360680" indent="-347980">
              <a:lnSpc>
                <a:spcPct val="100000"/>
              </a:lnSpc>
              <a:spcBef>
                <a:spcPts val="455"/>
              </a:spcBef>
              <a:buChar char="•"/>
              <a:tabLst>
                <a:tab pos="360680" algn="l"/>
              </a:tabLst>
            </a:pPr>
            <a:r>
              <a:rPr dirty="0"/>
              <a:t>A</a:t>
            </a:r>
            <a:r>
              <a:rPr spc="-5" dirty="0"/>
              <a:t> </a:t>
            </a:r>
            <a:r>
              <a:rPr sz="3200" dirty="0"/>
              <a:t>relationship</a:t>
            </a:r>
            <a:r>
              <a:rPr sz="1800" dirty="0"/>
              <a:t>–links</a:t>
            </a:r>
            <a:r>
              <a:rPr spc="-180" dirty="0"/>
              <a:t> </a:t>
            </a:r>
            <a:r>
              <a:rPr dirty="0"/>
              <a:t>entities</a:t>
            </a:r>
            <a:r>
              <a:rPr spc="-30" dirty="0"/>
              <a:t> </a:t>
            </a:r>
            <a:r>
              <a:rPr spc="-10" dirty="0"/>
              <a:t>together</a:t>
            </a:r>
            <a:endParaRPr sz="3600" dirty="0"/>
          </a:p>
          <a:p>
            <a:pPr marL="360680" indent="-347980">
              <a:lnSpc>
                <a:spcPts val="2710"/>
              </a:lnSpc>
              <a:spcBef>
                <a:spcPts val="320"/>
              </a:spcBef>
              <a:buChar char="•"/>
              <a:tabLst>
                <a:tab pos="360680" algn="l"/>
              </a:tabLst>
            </a:pPr>
            <a:r>
              <a:rPr dirty="0"/>
              <a:t>When</a:t>
            </a:r>
            <a:r>
              <a:rPr spc="-170" dirty="0"/>
              <a:t> </a:t>
            </a:r>
            <a:r>
              <a:rPr dirty="0"/>
              <a:t>should</a:t>
            </a:r>
            <a:r>
              <a:rPr spc="-10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z="2350" i="1" dirty="0">
                <a:latin typeface="Arial"/>
                <a:cs typeface="Arial"/>
              </a:rPr>
              <a:t>relationship</a:t>
            </a:r>
            <a:r>
              <a:rPr sz="2350" i="1" spc="240" dirty="0">
                <a:latin typeface="Arial"/>
                <a:cs typeface="Arial"/>
              </a:rPr>
              <a:t> </a:t>
            </a:r>
            <a:r>
              <a:rPr sz="2350" i="1" dirty="0">
                <a:latin typeface="Arial"/>
                <a:cs typeface="Arial"/>
              </a:rPr>
              <a:t>with</a:t>
            </a:r>
            <a:r>
              <a:rPr sz="2350" i="1" spc="114" dirty="0">
                <a:latin typeface="Arial"/>
                <a:cs typeface="Arial"/>
              </a:rPr>
              <a:t> </a:t>
            </a:r>
            <a:r>
              <a:rPr sz="2350" i="1" dirty="0">
                <a:latin typeface="Arial"/>
                <a:cs typeface="Arial"/>
              </a:rPr>
              <a:t>attributes</a:t>
            </a:r>
            <a:r>
              <a:rPr sz="2350" i="1" spc="105" dirty="0">
                <a:latin typeface="Arial"/>
                <a:cs typeface="Arial"/>
              </a:rPr>
              <a:t> </a:t>
            </a:r>
            <a:r>
              <a:rPr dirty="0"/>
              <a:t>instead</a:t>
            </a:r>
            <a:r>
              <a:rPr spc="-5" dirty="0"/>
              <a:t> </a:t>
            </a:r>
            <a:r>
              <a:rPr dirty="0"/>
              <a:t>be</a:t>
            </a:r>
            <a:r>
              <a:rPr spc="-130" dirty="0"/>
              <a:t> </a:t>
            </a:r>
            <a:r>
              <a:rPr spc="-25" dirty="0"/>
              <a:t>an</a:t>
            </a:r>
            <a:endParaRPr sz="2350" dirty="0">
              <a:latin typeface="Arial"/>
              <a:cs typeface="Arial"/>
            </a:endParaRPr>
          </a:p>
          <a:p>
            <a:pPr marL="360680">
              <a:lnSpc>
                <a:spcPts val="2710"/>
              </a:lnSpc>
            </a:pPr>
            <a:r>
              <a:rPr sz="2350" i="1" dirty="0">
                <a:latin typeface="Arial"/>
                <a:cs typeface="Arial"/>
              </a:rPr>
              <a:t>associative</a:t>
            </a:r>
            <a:r>
              <a:rPr sz="2350" i="1" spc="110" dirty="0">
                <a:latin typeface="Arial"/>
                <a:cs typeface="Arial"/>
              </a:rPr>
              <a:t> </a:t>
            </a:r>
            <a:r>
              <a:rPr sz="2350" i="1" spc="-10" dirty="0">
                <a:latin typeface="Arial"/>
                <a:cs typeface="Arial"/>
              </a:rPr>
              <a:t>entity</a:t>
            </a:r>
            <a:r>
              <a:rPr spc="-10" dirty="0"/>
              <a:t>?</a:t>
            </a:r>
            <a:endParaRPr sz="2350" dirty="0">
              <a:latin typeface="Arial"/>
              <a:cs typeface="Arial"/>
            </a:endParaRPr>
          </a:p>
          <a:p>
            <a:pPr marL="753745" lvl="1" indent="-283845">
              <a:lnSpc>
                <a:spcPct val="100000"/>
              </a:lnSpc>
              <a:spcBef>
                <a:spcPts val="254"/>
              </a:spcBef>
              <a:buChar char="–"/>
              <a:tabLst>
                <a:tab pos="753745" algn="l"/>
              </a:tabLst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relationships</a:t>
            </a:r>
            <a:r>
              <a:rPr sz="1800" spc="-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associative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entity should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many</a:t>
            </a:r>
            <a:endParaRPr sz="1800" dirty="0">
              <a:latin typeface="Arial MT"/>
              <a:cs typeface="Arial MT"/>
            </a:endParaRPr>
          </a:p>
          <a:p>
            <a:pPr marL="753745" marR="5080" lvl="1" indent="-283845">
              <a:lnSpc>
                <a:spcPts val="1950"/>
              </a:lnSpc>
              <a:spcBef>
                <a:spcPts val="459"/>
              </a:spcBef>
              <a:buChar char="–"/>
              <a:tabLst>
                <a:tab pos="75374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associative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entity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could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meaning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independent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 entities</a:t>
            </a:r>
            <a:endParaRPr sz="1800" dirty="0">
              <a:latin typeface="Arial MT"/>
              <a:cs typeface="Arial MT"/>
            </a:endParaRPr>
          </a:p>
          <a:p>
            <a:pPr marL="753745" lvl="1" indent="-283845">
              <a:lnSpc>
                <a:spcPct val="100000"/>
              </a:lnSpc>
              <a:spcBef>
                <a:spcPts val="185"/>
              </a:spcBef>
              <a:buChar char="–"/>
              <a:tabLst>
                <a:tab pos="753745" algn="l"/>
              </a:tabLst>
            </a:pPr>
            <a:r>
              <a:rPr sz="1800" dirty="0" smtClean="0">
                <a:latin typeface="Arial MT"/>
                <a:cs typeface="Arial MT"/>
              </a:rPr>
              <a:t>Ternary</a:t>
            </a:r>
            <a:r>
              <a:rPr sz="1800" spc="75" dirty="0" smtClean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relationships</a:t>
            </a:r>
            <a:r>
              <a:rPr sz="1800" spc="-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associative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entities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57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30"/>
              </a:spcBef>
            </a:pPr>
            <a:r>
              <a:rPr dirty="0"/>
              <a:t>Figure</a:t>
            </a:r>
            <a:r>
              <a:rPr spc="125" dirty="0"/>
              <a:t> </a:t>
            </a:r>
            <a:r>
              <a:rPr dirty="0"/>
              <a:t>3-11a</a:t>
            </a:r>
            <a:r>
              <a:rPr spc="114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binary</a:t>
            </a:r>
            <a:r>
              <a:rPr spc="120" dirty="0"/>
              <a:t> </a:t>
            </a:r>
            <a:r>
              <a:rPr dirty="0"/>
              <a:t>relationship</a:t>
            </a:r>
            <a:r>
              <a:rPr spc="125" dirty="0"/>
              <a:t> </a:t>
            </a:r>
            <a:r>
              <a:rPr dirty="0"/>
              <a:t>with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1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175" y="4525835"/>
            <a:ext cx="7440930" cy="112077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0"/>
              </a:spcBef>
            </a:pPr>
            <a:r>
              <a:rPr sz="2350" dirty="0">
                <a:latin typeface="Times New Roman"/>
                <a:cs typeface="Times New Roman"/>
              </a:rPr>
              <a:t>Here,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date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completed</a:t>
            </a:r>
            <a:r>
              <a:rPr sz="2350" spc="2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attribute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pertains</a:t>
            </a:r>
            <a:r>
              <a:rPr sz="2350" spc="1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specifically</a:t>
            </a:r>
            <a:r>
              <a:rPr sz="2350" spc="2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employee’s</a:t>
            </a:r>
            <a:r>
              <a:rPr sz="2350" spc="2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completion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course…it</a:t>
            </a:r>
            <a:r>
              <a:rPr sz="2350" spc="2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attribute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2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i="1" spc="-10" dirty="0">
                <a:latin typeface="Times New Roman"/>
                <a:cs typeface="Times New Roman"/>
              </a:rPr>
              <a:t>relationship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1444752"/>
            <a:ext cx="8083296" cy="2514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9AD6E93-71C5-4494-B345-85A7F9667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704" y="39370"/>
            <a:ext cx="8051037" cy="361637"/>
          </a:xfrm>
        </p:spPr>
        <p:txBody>
          <a:bodyPr/>
          <a:lstStyle/>
          <a:p>
            <a:pPr eaLnBrk="1" hangingPunct="1"/>
            <a:r>
              <a:rPr lang="en-US" altLang="en-US"/>
              <a:t>Composite Attributes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FACAAFB-F38E-4F75-94F5-417C7FC4C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6704" y="1256800"/>
            <a:ext cx="8837296" cy="307777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8A2216-7552-4AEC-889B-BF221DC3A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590337"/>
            <a:ext cx="5952181" cy="30108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85334-76DA-4CFD-8F5D-6CDA7AAF4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715000"/>
            <a:ext cx="2439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1200" dirty="0" smtClean="0">
                <a:latin typeface="Tahoma" panose="020B0604030504040204" pitchFamily="34" charset="0"/>
              </a:rPr>
              <a:t>)</a:t>
            </a:r>
            <a:endParaRPr lang="en-US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 advTm="41953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DC50AF4-463F-4A53-9336-36FFA5D25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53842"/>
            <a:ext cx="8051037" cy="361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Mapping a multi-valued attribute</a:t>
            </a:r>
          </a:p>
        </p:txBody>
      </p:sp>
      <p:pic>
        <p:nvPicPr>
          <p:cNvPr id="41987" name="Content Placeholder 3">
            <a:extLst>
              <a:ext uri="{FF2B5EF4-FFF2-40B4-BE49-F238E27FC236}">
                <a16:creationId xmlns:a16="http://schemas.microsoft.com/office/drawing/2014/main" id="{52256BD0-5C0E-45FF-972B-8C78BAD6AF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860510"/>
            <a:ext cx="5061752" cy="2354303"/>
          </a:xfrm>
        </p:spPr>
      </p:pic>
    </p:spTree>
  </p:cSld>
  <p:clrMapOvr>
    <a:masterClrMapping/>
  </p:clrMapOvr>
  <p:transition spd="slow" advTm="3841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58C15C1-5E44-48BF-BFD0-E7AF4458C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704" y="39370"/>
            <a:ext cx="8051037" cy="361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Optional Many to Mandatory One </a:t>
            </a:r>
          </a:p>
        </p:txBody>
      </p:sp>
      <p:grpSp>
        <p:nvGrpSpPr>
          <p:cNvPr id="123929" name="Group 25">
            <a:extLst>
              <a:ext uri="{FF2B5EF4-FFF2-40B4-BE49-F238E27FC236}">
                <a16:creationId xmlns:a16="http://schemas.microsoft.com/office/drawing/2014/main" id="{F07B8636-B0AE-49BC-9C08-16669894B4A6}"/>
              </a:ext>
            </a:extLst>
          </p:cNvPr>
          <p:cNvGrpSpPr>
            <a:grpSpLocks/>
          </p:cNvGrpSpPr>
          <p:nvPr/>
        </p:nvGrpSpPr>
        <p:grpSpPr bwMode="auto">
          <a:xfrm>
            <a:off x="1563701" y="2408040"/>
            <a:ext cx="4171950" cy="628650"/>
            <a:chOff x="1056" y="1920"/>
            <a:chExt cx="3504" cy="528"/>
          </a:xfrm>
        </p:grpSpPr>
        <p:sp>
          <p:nvSpPr>
            <p:cNvPr id="31751" name="Rectangle 5">
              <a:extLst>
                <a:ext uri="{FF2B5EF4-FFF2-40B4-BE49-F238E27FC236}">
                  <a16:creationId xmlns:a16="http://schemas.microsoft.com/office/drawing/2014/main" id="{13EBC7C7-2DE6-4927-B43B-5724B2BAB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008" cy="5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  <a:defRPr/>
              </a:pPr>
              <a:r>
                <a:rPr lang="en-US" altLang="en-US" sz="2100" dirty="0">
                  <a:solidFill>
                    <a:srgbClr val="FFFF00"/>
                  </a:solidFill>
                </a:rPr>
                <a:t>EMP</a:t>
              </a:r>
            </a:p>
          </p:txBody>
        </p:sp>
        <p:sp>
          <p:nvSpPr>
            <p:cNvPr id="31752" name="Rectangle 6">
              <a:extLst>
                <a:ext uri="{FF2B5EF4-FFF2-40B4-BE49-F238E27FC236}">
                  <a16:creationId xmlns:a16="http://schemas.microsoft.com/office/drawing/2014/main" id="{66A6AB18-0F09-4736-AF99-7BA966527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920"/>
              <a:ext cx="1008" cy="5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  <a:defRPr/>
              </a:pPr>
              <a:r>
                <a:rPr lang="en-US" altLang="en-US" sz="2100" dirty="0">
                  <a:solidFill>
                    <a:srgbClr val="FFFF00"/>
                  </a:solidFill>
                </a:rPr>
                <a:t>PROJ</a:t>
              </a:r>
            </a:p>
          </p:txBody>
        </p:sp>
        <p:sp>
          <p:nvSpPr>
            <p:cNvPr id="49162" name="Line 7">
              <a:extLst>
                <a:ext uri="{FF2B5EF4-FFF2-40B4-BE49-F238E27FC236}">
                  <a16:creationId xmlns:a16="http://schemas.microsoft.com/office/drawing/2014/main" id="{109B97FF-12E2-4086-97E7-1E66E3A7B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208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Line 8">
              <a:extLst>
                <a:ext uri="{FF2B5EF4-FFF2-40B4-BE49-F238E27FC236}">
                  <a16:creationId xmlns:a16="http://schemas.microsoft.com/office/drawing/2014/main" id="{6665BE82-DF16-47F1-8372-7ADD00A2D1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08" y="2060"/>
              <a:ext cx="8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4" name="Line 9">
              <a:extLst>
                <a:ext uri="{FF2B5EF4-FFF2-40B4-BE49-F238E27FC236}">
                  <a16:creationId xmlns:a16="http://schemas.microsoft.com/office/drawing/2014/main" id="{465718AF-6254-477B-BD61-62406483F5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00" y="2172"/>
              <a:ext cx="104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5" name="Oval 10">
              <a:extLst>
                <a:ext uri="{FF2B5EF4-FFF2-40B4-BE49-F238E27FC236}">
                  <a16:creationId xmlns:a16="http://schemas.microsoft.com/office/drawing/2014/main" id="{CB84F682-F48D-4940-929D-4B0737548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/>
              <a:endParaRPr lang="en-US" altLang="en-US" sz="1801">
                <a:latin typeface="Tahoma" panose="020B0604030504040204" pitchFamily="34" charset="0"/>
              </a:endParaRPr>
            </a:p>
          </p:txBody>
        </p:sp>
        <p:sp>
          <p:nvSpPr>
            <p:cNvPr id="31757" name="AutoShape 11">
              <a:extLst>
                <a:ext uri="{FF2B5EF4-FFF2-40B4-BE49-F238E27FC236}">
                  <a16:creationId xmlns:a16="http://schemas.microsoft.com/office/drawing/2014/main" id="{84B89691-55BC-45E0-BF78-5DE343973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976"/>
              <a:ext cx="560" cy="472"/>
            </a:xfrm>
            <a:prstGeom prst="diamond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1"/>
            </a:p>
          </p:txBody>
        </p:sp>
        <p:sp>
          <p:nvSpPr>
            <p:cNvPr id="49167" name="Freeform 22">
              <a:extLst>
                <a:ext uri="{FF2B5EF4-FFF2-40B4-BE49-F238E27FC236}">
                  <a16:creationId xmlns:a16="http://schemas.microsoft.com/office/drawing/2014/main" id="{3D1250A0-6E74-4FD1-97F8-E6D404F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124"/>
              <a:ext cx="1" cy="180"/>
            </a:xfrm>
            <a:custGeom>
              <a:avLst/>
              <a:gdLst>
                <a:gd name="T0" fmla="*/ 0 w 1"/>
                <a:gd name="T1" fmla="*/ 180 h 180"/>
                <a:gd name="T2" fmla="*/ 1 w 1"/>
                <a:gd name="T3" fmla="*/ 0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">
                  <a:moveTo>
                    <a:pt x="0" y="180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8" name="Freeform 24">
              <a:extLst>
                <a:ext uri="{FF2B5EF4-FFF2-40B4-BE49-F238E27FC236}">
                  <a16:creationId xmlns:a16="http://schemas.microsoft.com/office/drawing/2014/main" id="{19FAFF82-7F50-453C-BC66-ED856A0E9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124"/>
              <a:ext cx="1" cy="180"/>
            </a:xfrm>
            <a:custGeom>
              <a:avLst/>
              <a:gdLst>
                <a:gd name="T0" fmla="*/ 0 w 1"/>
                <a:gd name="T1" fmla="*/ 180 h 180"/>
                <a:gd name="T2" fmla="*/ 1 w 1"/>
                <a:gd name="T3" fmla="*/ 0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">
                  <a:moveTo>
                    <a:pt x="0" y="180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58" name="Freeform 28">
            <a:extLst>
              <a:ext uri="{FF2B5EF4-FFF2-40B4-BE49-F238E27FC236}">
                <a16:creationId xmlns:a16="http://schemas.microsoft.com/office/drawing/2014/main" id="{F99A33BA-6C2E-4D85-92BE-F4A07EA828D9}"/>
              </a:ext>
            </a:extLst>
          </p:cNvPr>
          <p:cNvSpPr>
            <a:spLocks/>
          </p:cNvSpPr>
          <p:nvPr/>
        </p:nvSpPr>
        <p:spPr bwMode="auto">
          <a:xfrm>
            <a:off x="5200650" y="4886325"/>
            <a:ext cx="842963" cy="1191"/>
          </a:xfrm>
          <a:custGeom>
            <a:avLst/>
            <a:gdLst>
              <a:gd name="T0" fmla="*/ 0 w 708"/>
              <a:gd name="T1" fmla="*/ 0 h 1"/>
              <a:gd name="T2" fmla="*/ 2147483646 w 70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08" h="1">
                <a:moveTo>
                  <a:pt x="0" y="0"/>
                </a:moveTo>
                <a:lnTo>
                  <a:pt x="708" y="0"/>
                </a:lnTo>
              </a:path>
            </a:pathLst>
          </a:custGeom>
          <a:noFill/>
          <a:ln w="9525" cap="flat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ransition spd="slow" advTm="879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7EFE185-9902-4445-9686-1A1D81507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1475" y="365786"/>
            <a:ext cx="6172200" cy="361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Optional Many to Mandatory One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8212A8C-7B9A-4C74-9E9C-D64C81AB44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724682"/>
            <a:ext cx="6172200" cy="3028950"/>
          </a:xfrm>
        </p:spPr>
        <p:txBody>
          <a:bodyPr>
            <a:normAutofit/>
          </a:bodyPr>
          <a:lstStyle/>
          <a:p>
            <a:pPr eaLnBrk="1" hangingPunct="1">
              <a:buFont typeface="Courier New" panose="02070309020205020404" pitchFamily="49" charset="0"/>
              <a:buChar char="o"/>
            </a:pPr>
            <a:endParaRPr lang="en-US" altLang="en-US" dirty="0"/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C1387AA4-CEFE-4A51-9386-01D80F35C8A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114675"/>
            <a:ext cx="4171950" cy="628650"/>
            <a:chOff x="1056" y="1920"/>
            <a:chExt cx="3504" cy="528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7D3AA20C-D72D-4BFF-A015-95950DD8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008" cy="5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  <a:defRPr/>
              </a:pPr>
              <a:r>
                <a:rPr lang="en-US" altLang="en-US" sz="2100" dirty="0">
                  <a:solidFill>
                    <a:srgbClr val="FFFF00"/>
                  </a:solidFill>
                </a:rPr>
                <a:t>EMP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2EB53B7-FF28-4B5A-813A-A2D543C9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920"/>
              <a:ext cx="1008" cy="5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  <a:defRPr/>
              </a:pPr>
              <a:r>
                <a:rPr lang="en-US" altLang="en-US" sz="2100" dirty="0">
                  <a:solidFill>
                    <a:srgbClr val="FFFF00"/>
                  </a:solidFill>
                </a:rPr>
                <a:t>PROJ</a:t>
              </a:r>
            </a:p>
          </p:txBody>
        </p:sp>
        <p:sp>
          <p:nvSpPr>
            <p:cNvPr id="50186" name="Line 7">
              <a:extLst>
                <a:ext uri="{FF2B5EF4-FFF2-40B4-BE49-F238E27FC236}">
                  <a16:creationId xmlns:a16="http://schemas.microsoft.com/office/drawing/2014/main" id="{1F20BEF6-9C67-4AFA-8DB0-D688B6A847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208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7" name="Line 8">
              <a:extLst>
                <a:ext uri="{FF2B5EF4-FFF2-40B4-BE49-F238E27FC236}">
                  <a16:creationId xmlns:a16="http://schemas.microsoft.com/office/drawing/2014/main" id="{2B73AB6F-5184-4111-9255-0864F9D8B4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108" y="2060"/>
              <a:ext cx="8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8" name="Line 9">
              <a:extLst>
                <a:ext uri="{FF2B5EF4-FFF2-40B4-BE49-F238E27FC236}">
                  <a16:creationId xmlns:a16="http://schemas.microsoft.com/office/drawing/2014/main" id="{FF883C1C-4D1A-4DCC-A8BF-6084962134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00" y="2172"/>
              <a:ext cx="104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9" name="Oval 10">
              <a:extLst>
                <a:ext uri="{FF2B5EF4-FFF2-40B4-BE49-F238E27FC236}">
                  <a16:creationId xmlns:a16="http://schemas.microsoft.com/office/drawing/2014/main" id="{2B27BCFB-4402-4D5C-A8A4-A14C98614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/>
              <a:endParaRPr lang="en-US" altLang="en-US" sz="1801">
                <a:latin typeface="Tahoma" panose="020B0604030504040204" pitchFamily="34" charset="0"/>
              </a:endParaRPr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97F3EDF4-BF06-46EA-83B2-1C3737D6F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976"/>
              <a:ext cx="560" cy="472"/>
            </a:xfrm>
            <a:prstGeom prst="diamond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1"/>
            </a:p>
          </p:txBody>
        </p:sp>
        <p:sp>
          <p:nvSpPr>
            <p:cNvPr id="50191" name="Freeform 22">
              <a:extLst>
                <a:ext uri="{FF2B5EF4-FFF2-40B4-BE49-F238E27FC236}">
                  <a16:creationId xmlns:a16="http://schemas.microsoft.com/office/drawing/2014/main" id="{74FF3CB1-5C0D-439D-A454-5F581881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124"/>
              <a:ext cx="1" cy="180"/>
            </a:xfrm>
            <a:custGeom>
              <a:avLst/>
              <a:gdLst>
                <a:gd name="T0" fmla="*/ 0 w 1"/>
                <a:gd name="T1" fmla="*/ 180 h 180"/>
                <a:gd name="T2" fmla="*/ 1 w 1"/>
                <a:gd name="T3" fmla="*/ 0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">
                  <a:moveTo>
                    <a:pt x="0" y="180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2" name="Freeform 24">
              <a:extLst>
                <a:ext uri="{FF2B5EF4-FFF2-40B4-BE49-F238E27FC236}">
                  <a16:creationId xmlns:a16="http://schemas.microsoft.com/office/drawing/2014/main" id="{52624314-C1EB-4281-AAB9-CF082C27B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124"/>
              <a:ext cx="1" cy="180"/>
            </a:xfrm>
            <a:custGeom>
              <a:avLst/>
              <a:gdLst>
                <a:gd name="T0" fmla="*/ 0 w 1"/>
                <a:gd name="T1" fmla="*/ 180 h 180"/>
                <a:gd name="T2" fmla="*/ 1 w 1"/>
                <a:gd name="T3" fmla="*/ 0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0">
                  <a:moveTo>
                    <a:pt x="0" y="180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 Box 26">
            <a:extLst>
              <a:ext uri="{FF2B5EF4-FFF2-40B4-BE49-F238E27FC236}">
                <a16:creationId xmlns:a16="http://schemas.microsoft.com/office/drawing/2014/main" id="{FE8534B6-2039-4556-8DE1-FB43F1087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409" y="4388080"/>
            <a:ext cx="5407819" cy="34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1634" dirty="0">
                <a:latin typeface="Tahoma" panose="020B0604030504040204" pitchFamily="34" charset="0"/>
              </a:rPr>
              <a:t>EMP(</a:t>
            </a:r>
            <a:r>
              <a:rPr lang="en-US" altLang="en-US" sz="1634" u="sng" dirty="0" err="1">
                <a:latin typeface="Tahoma" panose="020B0604030504040204" pitchFamily="34" charset="0"/>
              </a:rPr>
              <a:t>empId</a:t>
            </a:r>
            <a:r>
              <a:rPr lang="en-US" altLang="en-US" sz="1634" dirty="0">
                <a:latin typeface="Tahoma" panose="020B0604030504040204" pitchFamily="34" charset="0"/>
              </a:rPr>
              <a:t>, </a:t>
            </a:r>
            <a:r>
              <a:rPr lang="en-US" altLang="en-US" sz="1634" dirty="0" err="1">
                <a:latin typeface="Tahoma" panose="020B0604030504040204" pitchFamily="34" charset="0"/>
              </a:rPr>
              <a:t>empName</a:t>
            </a:r>
            <a:r>
              <a:rPr lang="en-US" altLang="en-US" sz="1634" dirty="0">
                <a:latin typeface="Tahoma" panose="020B0604030504040204" pitchFamily="34" charset="0"/>
              </a:rPr>
              <a:t>, </a:t>
            </a:r>
            <a:r>
              <a:rPr lang="en-US" altLang="en-US" sz="1634" u="sng" dirty="0" err="1">
                <a:latin typeface="Tahoma" panose="020B0604030504040204" pitchFamily="34" charset="0"/>
              </a:rPr>
              <a:t>p</a:t>
            </a:r>
            <a:r>
              <a:rPr lang="en-US" altLang="en-US" sz="1634" dirty="0" err="1">
                <a:latin typeface="Tahoma" panose="020B0604030504040204" pitchFamily="34" charset="0"/>
              </a:rPr>
              <a:t>r</a:t>
            </a:r>
            <a:r>
              <a:rPr lang="en-US" altLang="en-US" sz="1634" u="sng" dirty="0" err="1">
                <a:latin typeface="Tahoma" panose="020B0604030504040204" pitchFamily="34" charset="0"/>
              </a:rPr>
              <a:t>o</a:t>
            </a:r>
            <a:r>
              <a:rPr lang="en-US" altLang="en-US" sz="1634" dirty="0" err="1">
                <a:latin typeface="Tahoma" panose="020B0604030504040204" pitchFamily="34" charset="0"/>
              </a:rPr>
              <a:t>j</a:t>
            </a:r>
            <a:r>
              <a:rPr lang="en-US" altLang="en-US" sz="1634" u="sng" dirty="0" err="1">
                <a:latin typeface="Tahoma" panose="020B0604030504040204" pitchFamily="34" charset="0"/>
              </a:rPr>
              <a:t>I</a:t>
            </a:r>
            <a:r>
              <a:rPr lang="en-US" altLang="en-US" sz="1634" dirty="0" err="1">
                <a:latin typeface="Tahoma" panose="020B0604030504040204" pitchFamily="34" charset="0"/>
              </a:rPr>
              <a:t>d</a:t>
            </a:r>
            <a:r>
              <a:rPr lang="en-US" altLang="en-US" sz="1634" dirty="0">
                <a:latin typeface="Tahoma" panose="020B0604030504040204" pitchFamily="34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ransition spd="slow" advTm="477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A5E6-AE6C-4777-AA8A-4FF51F08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09600"/>
            <a:ext cx="8051037" cy="361637"/>
          </a:xfrm>
        </p:spPr>
        <p:txBody>
          <a:bodyPr/>
          <a:lstStyle/>
          <a:p>
            <a:r>
              <a:rPr lang="en-US" b="1" dirty="0"/>
              <a:t>Mandatory One to Optional Many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44DA-0FB3-4675-9BE8-234C5166E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37" y="2482164"/>
            <a:ext cx="4198363" cy="307777"/>
          </a:xfrm>
        </p:spPr>
        <p:txBody>
          <a:bodyPr/>
          <a:lstStyle/>
          <a:p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E1F20-F908-48C3-93BC-3850A4AE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54" y="1524000"/>
            <a:ext cx="6871447" cy="51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2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6ADCD2-2947-4ACD-8C7E-CAE422170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704" y="39370"/>
            <a:ext cx="8051037" cy="361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Optional Many to Optional One</a:t>
            </a:r>
          </a:p>
        </p:txBody>
      </p:sp>
      <p:sp>
        <p:nvSpPr>
          <p:cNvPr id="131106" name="Text Box 34">
            <a:extLst>
              <a:ext uri="{FF2B5EF4-FFF2-40B4-BE49-F238E27FC236}">
                <a16:creationId xmlns:a16="http://schemas.microsoft.com/office/drawing/2014/main" id="{B54B6613-E124-49FC-AFD0-05DC294B6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94" y="3289635"/>
            <a:ext cx="3462807" cy="301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1361" dirty="0">
                <a:latin typeface="Tahoma" panose="020B0604030504040204" pitchFamily="34" charset="0"/>
              </a:rPr>
              <a:t>EMP(</a:t>
            </a:r>
            <a:r>
              <a:rPr lang="en-US" altLang="en-US" sz="1361" u="sng" dirty="0" err="1">
                <a:latin typeface="Tahoma" panose="020B0604030504040204" pitchFamily="34" charset="0"/>
              </a:rPr>
              <a:t>empId</a:t>
            </a:r>
            <a:r>
              <a:rPr lang="en-US" altLang="en-US" sz="1361" dirty="0">
                <a:latin typeface="Tahoma" panose="020B0604030504040204" pitchFamily="34" charset="0"/>
              </a:rPr>
              <a:t>, </a:t>
            </a:r>
            <a:r>
              <a:rPr lang="en-US" altLang="en-US" sz="1361" dirty="0" err="1">
                <a:latin typeface="Tahoma" panose="020B0604030504040204" pitchFamily="34" charset="0"/>
              </a:rPr>
              <a:t>empName</a:t>
            </a:r>
            <a:r>
              <a:rPr lang="en-US" altLang="en-US" sz="1361" dirty="0">
                <a:latin typeface="Tahoma" panose="020B0604030504040204" pitchFamily="34" charset="0"/>
              </a:rPr>
              <a:t>, </a:t>
            </a:r>
            <a:r>
              <a:rPr lang="en-US" altLang="en-US" sz="1361" dirty="0" err="1">
                <a:latin typeface="Tahoma" panose="020B0604030504040204" pitchFamily="34" charset="0"/>
              </a:rPr>
              <a:t>empAddr</a:t>
            </a:r>
            <a:r>
              <a:rPr lang="en-US" altLang="en-US" sz="1361" dirty="0">
                <a:latin typeface="Tahoma" panose="020B0604030504040204" pitchFamily="34" charset="0"/>
              </a:rPr>
              <a:t>, </a:t>
            </a:r>
            <a:r>
              <a:rPr lang="en-US" altLang="en-US" sz="1361" u="sng" dirty="0" err="1">
                <a:latin typeface="Tahoma" panose="020B0604030504040204" pitchFamily="34" charset="0"/>
              </a:rPr>
              <a:t>d</a:t>
            </a:r>
            <a:r>
              <a:rPr lang="en-US" altLang="en-US" sz="1361" dirty="0" err="1">
                <a:latin typeface="Tahoma" panose="020B0604030504040204" pitchFamily="34" charset="0"/>
              </a:rPr>
              <a:t>e</a:t>
            </a:r>
            <a:r>
              <a:rPr lang="en-US" altLang="en-US" sz="1361" u="sng" dirty="0" err="1">
                <a:latin typeface="Tahoma" panose="020B0604030504040204" pitchFamily="34" charset="0"/>
              </a:rPr>
              <a:t>p</a:t>
            </a:r>
            <a:r>
              <a:rPr lang="en-US" altLang="en-US" sz="1361" dirty="0" err="1">
                <a:latin typeface="Tahoma" panose="020B0604030504040204" pitchFamily="34" charset="0"/>
              </a:rPr>
              <a:t>t</a:t>
            </a:r>
            <a:r>
              <a:rPr lang="en-US" altLang="en-US" sz="1361" u="sng" dirty="0" err="1">
                <a:latin typeface="Tahoma" panose="020B0604030504040204" pitchFamily="34" charset="0"/>
              </a:rPr>
              <a:t>ID</a:t>
            </a:r>
            <a:r>
              <a:rPr lang="en-US" altLang="en-US" sz="1361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31107" name="Text Box 35">
            <a:extLst>
              <a:ext uri="{FF2B5EF4-FFF2-40B4-BE49-F238E27FC236}">
                <a16:creationId xmlns:a16="http://schemas.microsoft.com/office/drawing/2014/main" id="{182E8C5E-7274-4063-BE6B-FC8550B29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560" y="3652539"/>
            <a:ext cx="2132315" cy="301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1361" dirty="0">
                <a:latin typeface="Tahoma" panose="020B0604030504040204" pitchFamily="34" charset="0"/>
              </a:rPr>
              <a:t>DEPT(</a:t>
            </a:r>
            <a:r>
              <a:rPr lang="en-US" altLang="en-US" sz="1361" u="sng" dirty="0" err="1">
                <a:latin typeface="Tahoma" panose="020B0604030504040204" pitchFamily="34" charset="0"/>
              </a:rPr>
              <a:t>deptId</a:t>
            </a:r>
            <a:r>
              <a:rPr lang="en-US" altLang="en-US" sz="1361" dirty="0">
                <a:latin typeface="Tahoma" panose="020B0604030504040204" pitchFamily="34" charset="0"/>
              </a:rPr>
              <a:t>, </a:t>
            </a:r>
            <a:r>
              <a:rPr lang="en-US" altLang="en-US" sz="1361" dirty="0" err="1">
                <a:latin typeface="Tahoma" panose="020B0604030504040204" pitchFamily="34" charset="0"/>
              </a:rPr>
              <a:t>deptName</a:t>
            </a:r>
            <a:r>
              <a:rPr lang="en-US" altLang="en-US" sz="1361" dirty="0">
                <a:latin typeface="Tahoma" panose="020B0604030504040204" pitchFamily="34" charset="0"/>
              </a:rPr>
              <a:t>)</a:t>
            </a:r>
          </a:p>
        </p:txBody>
      </p:sp>
      <p:pic>
        <p:nvPicPr>
          <p:cNvPr id="51205" name="Picture 1">
            <a:extLst>
              <a:ext uri="{FF2B5EF4-FFF2-40B4-BE49-F238E27FC236}">
                <a16:creationId xmlns:a16="http://schemas.microsoft.com/office/drawing/2014/main" id="{82C037E0-5BBC-498E-8860-2FE7D64C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967" y="2751237"/>
            <a:ext cx="4256474" cy="1802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 advTm="947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06" grpId="0"/>
      <p:bldP spid="1311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66793B0-4A09-4E33-AE4F-BE798D2A3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657" y="387903"/>
            <a:ext cx="5657850" cy="84177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50" b="1" dirty="0"/>
              <a:t>Many to Many Relationship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E362387-FC18-454F-9CBC-2A798BD80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482" y="1181526"/>
            <a:ext cx="9097518" cy="3354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E3865E3E-D8FD-4F73-8854-A4916209F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91200"/>
            <a:ext cx="5657850" cy="2424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26988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19A1B48-829B-4646-A056-76356F54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362" y="441271"/>
            <a:ext cx="6172200" cy="361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Unary Example</a:t>
            </a:r>
          </a:p>
        </p:txBody>
      </p:sp>
      <p:sp>
        <p:nvSpPr>
          <p:cNvPr id="58373" name="Line 27">
            <a:extLst>
              <a:ext uri="{FF2B5EF4-FFF2-40B4-BE49-F238E27FC236}">
                <a16:creationId xmlns:a16="http://schemas.microsoft.com/office/drawing/2014/main" id="{619D4D1A-546C-4785-A686-C13DDA09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6425" y="5743575"/>
            <a:ext cx="74295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8374" name="Picture 5">
            <a:extLst>
              <a:ext uri="{FF2B5EF4-FFF2-40B4-BE49-F238E27FC236}">
                <a16:creationId xmlns:a16="http://schemas.microsoft.com/office/drawing/2014/main" id="{C394BAB1-A0A6-49DE-BD96-AFA5709CD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632" y="1940541"/>
            <a:ext cx="5217168" cy="2534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 advTm="31091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624" y="144907"/>
            <a:ext cx="6820534" cy="13735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973455" marR="5080" indent="-961390">
              <a:lnSpc>
                <a:spcPct val="101099"/>
              </a:lnSpc>
              <a:spcBef>
                <a:spcPts val="35"/>
              </a:spcBef>
              <a:tabLst>
                <a:tab pos="4577715" algn="l"/>
              </a:tabLst>
            </a:pPr>
            <a:r>
              <a:rPr sz="4400" b="1" dirty="0">
                <a:latin typeface="Arial"/>
                <a:cs typeface="Arial"/>
              </a:rPr>
              <a:t>Creating</a:t>
            </a:r>
            <a:r>
              <a:rPr sz="4400" b="1" spc="-9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an</a:t>
            </a:r>
            <a:r>
              <a:rPr sz="4400" b="1" spc="-14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ERD</a:t>
            </a:r>
            <a:r>
              <a:rPr sz="4400" b="1" dirty="0">
                <a:latin typeface="Arial"/>
                <a:cs typeface="Arial"/>
              </a:rPr>
              <a:t>	from</a:t>
            </a:r>
            <a:r>
              <a:rPr sz="4400" b="1" spc="-85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the </a:t>
            </a:r>
            <a:r>
              <a:rPr sz="4400" b="1" dirty="0">
                <a:latin typeface="Arial"/>
                <a:cs typeface="Arial"/>
              </a:rPr>
              <a:t>Investigated</a:t>
            </a:r>
            <a:r>
              <a:rPr sz="4400" b="1" spc="-21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Facts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0535" y="1497642"/>
            <a:ext cx="7624445" cy="227901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935"/>
              </a:spcBef>
              <a:buChar char="•"/>
              <a:tabLst>
                <a:tab pos="360045" algn="l"/>
              </a:tabLst>
            </a:pPr>
            <a:r>
              <a:rPr sz="3150" dirty="0">
                <a:latin typeface="Arial MT"/>
                <a:cs typeface="Arial MT"/>
              </a:rPr>
              <a:t>Identify</a:t>
            </a:r>
            <a:r>
              <a:rPr sz="3150" spc="5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all</a:t>
            </a:r>
            <a:r>
              <a:rPr sz="3150" spc="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entities.</a:t>
            </a:r>
            <a:endParaRPr sz="3150">
              <a:latin typeface="Arial MT"/>
              <a:cs typeface="Arial MT"/>
            </a:endParaRPr>
          </a:p>
          <a:p>
            <a:pPr marL="360045" indent="-347345">
              <a:lnSpc>
                <a:spcPct val="100000"/>
              </a:lnSpc>
              <a:spcBef>
                <a:spcPts val="835"/>
              </a:spcBef>
              <a:buChar char="•"/>
              <a:tabLst>
                <a:tab pos="360045" algn="l"/>
              </a:tabLst>
            </a:pPr>
            <a:r>
              <a:rPr sz="3150" dirty="0">
                <a:latin typeface="Arial MT"/>
                <a:cs typeface="Arial MT"/>
              </a:rPr>
              <a:t>Identify</a:t>
            </a:r>
            <a:r>
              <a:rPr sz="3150" spc="6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all</a:t>
            </a:r>
            <a:r>
              <a:rPr sz="3150" spc="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4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relationships.</a:t>
            </a:r>
            <a:endParaRPr sz="3150">
              <a:latin typeface="Arial MT"/>
              <a:cs typeface="Arial MT"/>
            </a:endParaRPr>
          </a:p>
          <a:p>
            <a:pPr marL="360045" marR="5080" indent="-347980">
              <a:lnSpc>
                <a:spcPct val="103000"/>
              </a:lnSpc>
              <a:spcBef>
                <a:spcPts val="720"/>
              </a:spcBef>
              <a:buChar char="•"/>
              <a:tabLst>
                <a:tab pos="360045" algn="l"/>
              </a:tabLst>
            </a:pPr>
            <a:r>
              <a:rPr sz="3150" dirty="0">
                <a:latin typeface="Arial MT"/>
                <a:cs typeface="Arial MT"/>
              </a:rPr>
              <a:t>Identify</a:t>
            </a:r>
            <a:r>
              <a:rPr sz="3150" spc="6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cardinality</a:t>
            </a:r>
            <a:r>
              <a:rPr sz="3150" spc="19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and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multiplicities</a:t>
            </a:r>
            <a:r>
              <a:rPr sz="3150" spc="-5" dirty="0">
                <a:latin typeface="Arial MT"/>
                <a:cs typeface="Arial MT"/>
              </a:rPr>
              <a:t> </a:t>
            </a:r>
            <a:r>
              <a:rPr sz="3150" spc="-20" dirty="0">
                <a:latin typeface="Arial MT"/>
                <a:cs typeface="Arial MT"/>
              </a:rPr>
              <a:t>(min </a:t>
            </a:r>
            <a:r>
              <a:rPr sz="3150" spc="-10" dirty="0">
                <a:latin typeface="Arial MT"/>
                <a:cs typeface="Arial MT"/>
              </a:rPr>
              <a:t>max).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1E4380-C34E-448B-BAE9-81DA3796DC4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16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C89F60-F9AB-4FAA-B229-582522F56177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CASE STUDY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25F09D-E307-4173-ABCC-085EC5425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9144000" cy="525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45C6DEB-BB72-4457-8298-7830F815E2F1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E-R Model</a:t>
            </a:r>
          </a:p>
        </p:txBody>
      </p:sp>
    </p:spTree>
    <p:extLst>
      <p:ext uri="{BB962C8B-B14F-4D97-AF65-F5344CB8AC3E}">
        <p14:creationId xmlns:p14="http://schemas.microsoft.com/office/powerpoint/2010/main" val="2931833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9C0E-CDAB-4CDC-9EF9-962E5582ABB5}"/>
              </a:ext>
            </a:extLst>
          </p:cNvPr>
          <p:cNvSpPr txBox="1">
            <a:spLocks/>
          </p:cNvSpPr>
          <p:nvPr/>
        </p:nvSpPr>
        <p:spPr>
          <a:xfrm>
            <a:off x="152400" y="1676400"/>
            <a:ext cx="7029450" cy="4887152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Movies are identified by their title and year of release.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They have length in minutes. They have a studio that produces the movie and are classified under one or more genres.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Each movie also has zero or more quotable quotes, which are spoken by a particular actor acting in the movie.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Movies are directed by one or more directors and have one or more actors acting in them.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Actors are identified by their names and date of birth and act in one or more movies. Each actor has a role in the movie.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Directors are also identified by their names and date of birth and direct one or more movies. It is possible for a director to act in movie (not necessarily in a movie they direct).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Studios are identified by their names and have an address. They produce one or more movies.</a:t>
            </a:r>
          </a:p>
          <a:p>
            <a:endParaRPr lang="en-U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7C707C-CE96-4E75-91EF-28DFEDCB5BA7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CASE STUDY 2</a:t>
            </a:r>
          </a:p>
        </p:txBody>
      </p:sp>
    </p:spTree>
    <p:extLst>
      <p:ext uri="{BB962C8B-B14F-4D97-AF65-F5344CB8AC3E}">
        <p14:creationId xmlns:p14="http://schemas.microsoft.com/office/powerpoint/2010/main" val="1301316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53000"/>
          </a:blip>
          <a:srcRect/>
          <a:stretch>
            <a:fillRect/>
          </a:stretch>
        </p:blipFill>
        <p:spPr bwMode="auto">
          <a:xfrm>
            <a:off x="0" y="1447800"/>
            <a:ext cx="9144000" cy="539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1E4380-C34E-448B-BAE9-81DA3796DC4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D7367-387D-4A2F-9262-8FD19345BC21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E-R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E0C282-D6EC-472A-AE4E-36A5DFBFA3A1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8886825" cy="457200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The mail order company has employee identified by a unique employee number. Their first name and name, and a zip code where they are located.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The customers of the company are identified by a unique customer number, their first and last name , and a zip code where they are located.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Order placed by customers are taken by employee and are given a unique order number , Each order may contain certain quantities of one or more parts and their received date as well as a shipped date is recorded</a:t>
            </a:r>
          </a:p>
          <a:p>
            <a:endParaRPr lang="en-US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C86DBC-09C3-4D42-8296-2CA2860245A9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CASE STUDY 3</a:t>
            </a:r>
          </a:p>
        </p:txBody>
      </p:sp>
    </p:spTree>
    <p:extLst>
      <p:ext uri="{BB962C8B-B14F-4D97-AF65-F5344CB8AC3E}">
        <p14:creationId xmlns:p14="http://schemas.microsoft.com/office/powerpoint/2010/main" val="3540488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1B34B2BC-192A-4250-B266-6279C1A2D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144000" cy="53347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FA81B23-F7F7-44A8-802B-C7C807F6CB04}"/>
              </a:ext>
            </a:extLst>
          </p:cNvPr>
          <p:cNvSpPr txBox="1">
            <a:spLocks/>
          </p:cNvSpPr>
          <p:nvPr/>
        </p:nvSpPr>
        <p:spPr>
          <a:xfrm>
            <a:off x="304800" y="457200"/>
            <a:ext cx="8051037" cy="3616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E-R Model</a:t>
            </a:r>
          </a:p>
        </p:txBody>
      </p:sp>
    </p:spTree>
    <p:extLst>
      <p:ext uri="{BB962C8B-B14F-4D97-AF65-F5344CB8AC3E}">
        <p14:creationId xmlns:p14="http://schemas.microsoft.com/office/powerpoint/2010/main" val="1641579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3CB2C5-89EB-4419-A38D-72F549EC4D8C}"/>
              </a:ext>
            </a:extLst>
          </p:cNvPr>
          <p:cNvGrpSpPr/>
          <p:nvPr/>
        </p:nvGrpSpPr>
        <p:grpSpPr>
          <a:xfrm>
            <a:off x="76200" y="1524000"/>
            <a:ext cx="8991599" cy="2819400"/>
            <a:chOff x="1723627" y="2604972"/>
            <a:chExt cx="5696745" cy="16480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5A67D1-4462-48AC-87CF-BDE841295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627" y="2604972"/>
              <a:ext cx="5696745" cy="164805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BEC6F9-8FC6-49D5-838B-0ADA6AAF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3627" y="2819400"/>
              <a:ext cx="419158" cy="1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9919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.3|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1.3|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1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536</Words>
  <Application>Microsoft Office PowerPoint</Application>
  <PresentationFormat>On-screen Show (4:3)</PresentationFormat>
  <Paragraphs>81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MT</vt:lpstr>
      <vt:lpstr>Calibri</vt:lpstr>
      <vt:lpstr>Courier New</vt:lpstr>
      <vt:lpstr>Tahoma</vt:lpstr>
      <vt:lpstr>Times New Roman</vt:lpstr>
      <vt:lpstr>Wingdings</vt:lpstr>
      <vt:lpstr>Office Theme</vt:lpstr>
      <vt:lpstr>Strong vs. Weak Entities, and Identifying Relationships</vt:lpstr>
      <vt:lpstr>SUMMARY OF ER-DIAGRAM NOTATION FOR ER SCHEMAS</vt:lpstr>
      <vt:lpstr>Identifying relationship</vt:lpstr>
      <vt:lpstr>Associative Entities</vt:lpstr>
      <vt:lpstr>Figure 3-11a A binary relationship with an attribute</vt:lpstr>
      <vt:lpstr>Composite Attributes</vt:lpstr>
      <vt:lpstr>Mapping a multi-valued attribute</vt:lpstr>
      <vt:lpstr>Optional Many to Mandatory One </vt:lpstr>
      <vt:lpstr>Optional Many to Mandatory One </vt:lpstr>
      <vt:lpstr>Mandatory One to Optional Many </vt:lpstr>
      <vt:lpstr>Optional Many to Optional One</vt:lpstr>
      <vt:lpstr>Many to Many Relationship</vt:lpstr>
      <vt:lpstr>Unary Example</vt:lpstr>
      <vt:lpstr>Creating an ERD from the Investigated Facts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Today’s Lecture: Agenda</dc:title>
  <dc:creator>user</dc:creator>
  <cp:lastModifiedBy>User</cp:lastModifiedBy>
  <cp:revision>23</cp:revision>
  <dcterms:created xsi:type="dcterms:W3CDTF">2025-02-13T07:48:55Z</dcterms:created>
  <dcterms:modified xsi:type="dcterms:W3CDTF">2025-10-09T06:07:32Z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2019-03-21T00:00:00Z</vt:filetime>
  </property>
</Properties>
</file>